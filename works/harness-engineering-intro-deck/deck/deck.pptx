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notesMasterIdLst>
    <p:notesMasterId r:id="rId16"/>
  </p:notesMasterIdLst>
  <p:sldSz cx="12192000" cy="6858000" type="custom"/>
  <p:notesSz cx="12192000" cy="6858000"/>
  <p:embeddedFontLst>
    <p:embeddedFont>
      <p:font typeface="Liter" charset="-122" pitchFamily="34"/>
      <p:regular r:id="rId13"/>
    </p:embeddedFont>
    <p:embeddedFont>
      <p:font typeface="MiSans" charset="-122" pitchFamily="34"/>
      <p:regular r:id="rId14"/>
    </p:embeddedFont>
    <p:embeddedFont>
      <p:font typeface="得意黑" charset="-122" pitchFamily="34"/>
      <p:regular r:id="rId15"/>
    </p:embeddedFont>
  </p:embeddedFontLst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封面。缰绳曲线从左下（人类）指向右上（智能体），标题与曲线共同构图。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范式转变：传统工程（灰、细）与驭缰工程（墨、粗、带反馈回路）上下对照。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六大核心概念，围绕中央缰绳环左右各三条，编号 01-06。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OpenAI 实证数据。主数字 ~100 万行居中放大，其余指标一排列于下方。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学习方法：五个 Phase 串成反馈回路，回流箭头折返；下方给 Ralph Demo 实证。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仓库结构：左侧目录树（无边框表格保证行对齐），右侧解释渐进式披露。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机械化检查：两道门（本地 hook、CI）+ C1–C13 四族清单。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自指页：curate-research 流水线，人类闸门用竖闸复用第 7 页的门语法；下方三原则对位。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研究资料库：比例横带 + 三脉络清单，右侧 34 篇翻译大数字。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封底：深底反白，缰绳曲线自右上折返左下与封面呼应，收束到仓库地址。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openai.com/zh-Hans-CN/index/harness-engineering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openai.com/zh-Hans-CN/index/harness-engineering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in-curve"/>
          <p:cNvSpPr/>
          <p:nvPr>
            <p:extLst>
              <p:ext uri="{F5677B7D-0D2A-4D9B-9A5C-6D8D7D0E5A5D}">
                <pptd:line encoding="base64url">eyJ2aWV3Qm94IjpbOTYwLDU0MF0sInBvaW50cyI6IjEyMCw0NjggNDUwLDQzMiA2ODAsMTcwIDkyOCwxMDAiLCJjdXJ2ZSI6InNtb290aCJ9</pptd:line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60" h="540">
                <a:moveTo>
                  <a:pt x="120" y="468"/>
                </a:moveTo>
                <a:cubicBezTo>
                  <a:pt x="450" y="432"/>
                  <a:pt x="680" y="170"/>
                  <a:pt x="928" y="100"/>
                </a:cubicBezTo>
              </a:path>
            </a:pathLst>
          </a:custGeom>
          <a:noFill/>
          <a:ln w="38100" cap="rnd">
            <a:solidFill>
              <a:srgbClr val="C2481D"/>
            </a:solidFill>
            <a:round/>
            <a:tailEnd type="stealth"/>
          </a:ln>
        </p:spPr>
      </p:sp>
      <p:sp>
        <p:nvSpPr>
          <p:cNvPr id="3" name="anchor-dot"/>
          <p:cNvSpPr/>
          <p:nvPr/>
        </p:nvSpPr>
        <p:spPr>
          <a:xfrm>
            <a:off x="1422400" y="5842000"/>
            <a:ext cx="203200" cy="203200"/>
          </a:xfrm>
          <a:prstGeom prst="ellipse">
            <a:avLst/>
          </a:prstGeom>
          <a:solidFill>
            <a:srgbClr val="1F1C17"/>
          </a:solidFill>
          <a:ln>
            <a:noFill/>
          </a:ln>
        </p:spPr>
      </p:sp>
      <p:sp>
        <p:nvSpPr>
          <p:cNvPr id="4" name="anchor-label"/>
          <p:cNvSpPr txBox="1"/>
          <p:nvPr/>
        </p:nvSpPr>
        <p:spPr>
          <a:xfrm>
            <a:off x="1752600" y="5854700"/>
            <a:ext cx="2794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98907F"/>
                </a:solidFill>
                <a:latin typeface="Liter"/>
                <a:ea typeface="MiSans"/>
              </a:rPr>
              <a:t>人类 · 设计约束，握住缰绳</a:t>
            </a:r>
            <a:endParaRPr lang="en-US" sz="1100" noProof="1"/>
          </a:p>
        </p:txBody>
      </p:sp>
      <p:sp>
        <p:nvSpPr>
          <p:cNvPr id="5" name="agent-label"/>
          <p:cNvSpPr txBox="1"/>
          <p:nvPr/>
        </p:nvSpPr>
        <p:spPr>
          <a:xfrm>
            <a:off x="8128000" y="889000"/>
            <a:ext cx="32258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5000"/>
              </a:lnSpc>
            </a:pPr>
            <a:r>
              <a:rPr lang="en-US" sz="1100" noProof="1">
                <a:solidFill>
                  <a:srgbClr val="98907F"/>
                </a:solidFill>
                <a:latin typeface="Liter"/>
                <a:ea typeface="MiSans"/>
              </a:rPr>
              <a:t>智能体 · 沿着约束交付</a:t>
            </a:r>
            <a:endParaRPr lang="en-US" sz="1100" noProof="1"/>
          </a:p>
        </p:txBody>
      </p:sp>
      <p:sp>
        <p:nvSpPr>
          <p:cNvPr id="6" name="kicker"/>
          <p:cNvSpPr txBox="1"/>
          <p:nvPr/>
        </p:nvSpPr>
        <p:spPr>
          <a:xfrm>
            <a:off x="812800" y="1066800"/>
            <a:ext cx="787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400" kern="0">
                <a:solidFill>
                  <a:srgbClr val="C2481D"/>
                </a:solidFill>
                <a:latin typeface="Liter"/>
                <a:ea typeface="MiSans"/>
              </a:rPr>
              <a:t>HARNESS ENGINEERING · 学习档案</a:t>
            </a:r>
            <a:endParaRPr lang="en-US" sz="1300" noProof="1"/>
          </a:p>
        </p:txBody>
      </p:sp>
      <p:sp>
        <p:nvSpPr>
          <p:cNvPr id="7" name="title"/>
          <p:cNvSpPr txBox="1"/>
          <p:nvPr/>
        </p:nvSpPr>
        <p:spPr>
          <a:xfrm>
            <a:off x="736600" y="1498600"/>
            <a:ext cx="7874000" cy="154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600" noProof="1">
                <a:solidFill>
                  <a:srgbClr val="1F1C17"/>
                </a:solidFill>
                <a:latin typeface="得意黑"/>
                <a:ea typeface="得意黑"/>
              </a:rPr>
              <a:t>驭缰工程</a:t>
            </a:r>
            <a:endParaRPr lang="en-US" sz="9600" noProof="1"/>
          </a:p>
        </p:txBody>
      </p:sp>
      <p:sp>
        <p:nvSpPr>
          <p:cNvPr id="8" name="subtitle"/>
          <p:cNvSpPr txBox="1"/>
          <p:nvPr/>
        </p:nvSpPr>
        <p:spPr>
          <a:xfrm>
            <a:off x="838200" y="3200400"/>
            <a:ext cx="787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6E675B"/>
                </a:solidFill>
                <a:latin typeface="Liter"/>
                <a:ea typeface="MiSans"/>
              </a:rPr>
              <a:t>一座从概念理解到独立实践的深度学习档案</a:t>
            </a:r>
            <a:endParaRPr lang="en-US" sz="1600" noProof="1"/>
          </a:p>
        </p:txBody>
      </p:sp>
      <p:sp>
        <p:nvSpPr>
          <p:cNvPr id="9" name="motto"/>
          <p:cNvSpPr txBox="1"/>
          <p:nvPr/>
        </p:nvSpPr>
        <p:spPr>
          <a:xfrm>
            <a:off x="838200" y="4013200"/>
            <a:ext cx="7112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1F1C17"/>
                </a:solidFill>
                <a:latin typeface="得意黑"/>
                <a:ea typeface="得意黑"/>
              </a:rPr>
              <a:t>人类掌舵，</a:t>
            </a:r>
            <a:r>
              <a:rPr lang="en-US" sz="2600" noProof="1">
                <a:solidFill>
                  <a:srgbClr val="C2481D"/>
                </a:solidFill>
                <a:latin typeface="得意黑"/>
                <a:ea typeface="得意黑"/>
              </a:rPr>
              <a:t>智能体执行</a:t>
            </a:r>
            <a:r>
              <a:rPr lang="en-US" sz="2600" noProof="1">
                <a:solidFill>
                  <a:srgbClr val="1F1C17"/>
                </a:solidFill>
                <a:latin typeface="得意黑"/>
                <a:ea typeface="得意黑"/>
              </a:rPr>
              <a:t>。</a:t>
            </a:r>
            <a:endParaRPr lang="en-US" sz="2600" noProof="1"/>
          </a:p>
        </p:txBody>
      </p:sp>
      <p:sp>
        <p:nvSpPr>
          <p:cNvPr id="10" name="footer-rule"/>
          <p:cNvSpPr/>
          <p:nvPr/>
        </p:nvSpPr>
        <p:spPr>
          <a:xfrm>
            <a:off x="838200" y="6299200"/>
            <a:ext cx="105156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</p:sp>
      <p:sp>
        <p:nvSpPr>
          <p:cNvPr id="11" name="footer-left"/>
          <p:cNvSpPr txBox="1"/>
          <p:nvPr/>
        </p:nvSpPr>
        <p:spPr>
          <a:xfrm>
            <a:off x="838200" y="6426200"/>
            <a:ext cx="5842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98907F"/>
                </a:solidFill>
                <a:latin typeface="Liter"/>
                <a:ea typeface="MiSans"/>
              </a:rPr>
              <a:t>github.com/deusyu/harness-engineering</a:t>
            </a:r>
            <a:endParaRPr lang="en-US" sz="1100" noProof="1"/>
          </a:p>
        </p:txBody>
      </p:sp>
      <p:sp>
        <p:nvSpPr>
          <p:cNvPr id="12" name="footer-right"/>
          <p:cNvSpPr txBox="1"/>
          <p:nvPr/>
        </p:nvSpPr>
        <p:spPr>
          <a:xfrm>
            <a:off x="8051800" y="6426200"/>
            <a:ext cx="3302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5000"/>
              </a:lnSpc>
            </a:pPr>
            <a:r>
              <a:rPr lang="en-US" sz="1100" noProof="1">
                <a:solidFill>
                  <a:srgbClr val="98907F"/>
                </a:solidFill>
                <a:latin typeface="Liter"/>
                <a:ea typeface="MiSans"/>
              </a:rPr>
              <a:t>档案快照 · 2026-08</a:t>
            </a:r>
            <a:endParaRPr lang="en-US" sz="1100" noProof="1"/>
          </a:p>
        </p:txBody>
      </p:sp>
      <p:sp>
        <p:nvSpPr>
          <p:cNvPr id="13" name="Oval 12"/>
          <p:cNvSpPr/>
          <p:nvPr/>
        </p:nvSpPr>
        <p:spPr>
          <a:xfrm>
            <a:off x="4940300" y="4851400"/>
            <a:ext cx="114300" cy="114300"/>
          </a:xfrm>
          <a:prstGeom prst="ellipse">
            <a:avLst/>
          </a:prstGeom>
          <a:solidFill>
            <a:srgbClr val="C24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0800" y="4953000"/>
            <a:ext cx="17780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6E675B"/>
                </a:solidFill>
                <a:latin typeface="Liter"/>
                <a:ea typeface="MiSans"/>
              </a:rPr>
              <a:t>AGENTS.md</a:t>
            </a:r>
          </a:p>
        </p:txBody>
      </p:sp>
      <p:sp>
        <p:nvSpPr>
          <p:cNvPr id="15" name="Oval 14"/>
          <p:cNvSpPr/>
          <p:nvPr/>
        </p:nvSpPr>
        <p:spPr>
          <a:xfrm>
            <a:off x="6985000" y="3708400"/>
            <a:ext cx="114300" cy="114300"/>
          </a:xfrm>
          <a:prstGeom prst="ellipse">
            <a:avLst/>
          </a:prstGeom>
          <a:solidFill>
            <a:srgbClr val="C24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88200" y="3810000"/>
            <a:ext cx="17780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6E675B"/>
                </a:solidFill>
                <a:latin typeface="Liter"/>
                <a:ea typeface="MiSans"/>
              </a:rPr>
              <a:t>自定义 linter</a:t>
            </a:r>
          </a:p>
        </p:txBody>
      </p:sp>
      <p:sp>
        <p:nvSpPr>
          <p:cNvPr id="17" name="Oval 16"/>
          <p:cNvSpPr/>
          <p:nvPr/>
        </p:nvSpPr>
        <p:spPr>
          <a:xfrm>
            <a:off x="8915400" y="2527300"/>
            <a:ext cx="114300" cy="114300"/>
          </a:xfrm>
          <a:prstGeom prst="ellipse">
            <a:avLst/>
          </a:prstGeom>
          <a:solidFill>
            <a:srgbClr val="C24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8600" y="2628900"/>
            <a:ext cx="16510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6E675B"/>
                </a:solidFill>
                <a:latin typeface="Liter"/>
                <a:ea typeface="MiSans"/>
              </a:rPr>
              <a:t>CI 反馈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38200" y="660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400" kern="0">
                <a:solidFill>
                  <a:srgbClr val="C2481D"/>
                </a:solidFill>
                <a:latin typeface="Liter"/>
                <a:ea typeface="MiSans"/>
              </a:rPr>
              <a:t>01 · 范式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838200" y="965200"/>
            <a:ext cx="10515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1F1C17"/>
                </a:solidFill>
                <a:latin typeface="得意黑"/>
                <a:ea typeface="得意黑"/>
              </a:rPr>
              <a:t>工程师的产出：从代码，变成约束系统</a:t>
            </a:r>
            <a:endParaRPr lang="en-US" sz="3000" noProof="1"/>
          </a:p>
        </p:txBody>
      </p:sp>
      <p:sp>
        <p:nvSpPr>
          <p:cNvPr id="4" name="title-rule"/>
          <p:cNvSpPr/>
          <p:nvPr/>
        </p:nvSpPr>
        <p:spPr>
          <a:xfrm>
            <a:off x="838200" y="1625600"/>
            <a:ext cx="105156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</p:sp>
      <p:sp>
        <p:nvSpPr>
          <p:cNvPr id="5" name="trad-label"/>
          <p:cNvSpPr txBox="1"/>
          <p:nvPr/>
        </p:nvSpPr>
        <p:spPr>
          <a:xfrm>
            <a:off x="838200" y="2184400"/>
            <a:ext cx="1397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98907F"/>
                </a:solidFill>
                <a:latin typeface="Liter"/>
                <a:ea typeface="MiSans"/>
              </a:rPr>
              <a:t>传统工程</a:t>
            </a:r>
            <a:endParaRPr lang="en-US" sz="1400" noProof="1"/>
          </a:p>
        </p:txBody>
      </p:sp>
      <p:sp>
        <p:nvSpPr>
          <p:cNvPr id="6" name="trad-n1"/>
          <p:cNvSpPr/>
          <p:nvPr/>
        </p:nvSpPr>
        <p:spPr>
          <a:xfrm>
            <a:off x="2921000" y="2032000"/>
            <a:ext cx="1219200" cy="508000"/>
          </a:xfrm>
          <a:prstGeom prst="rect">
            <a:avLst/>
          </a:prstGeom>
          <a:noFill/>
          <a:ln w="12700">
            <a:solidFill>
              <a:srgbClr val="98907F"/>
            </a:solidFill>
          </a:ln>
        </p:spPr>
      </p:sp>
      <p:sp>
        <p:nvSpPr>
          <p:cNvPr id="7" name="trad-n1-t"/>
          <p:cNvSpPr txBox="1"/>
          <p:nvPr/>
        </p:nvSpPr>
        <p:spPr>
          <a:xfrm>
            <a:off x="2921000" y="2032000"/>
            <a:ext cx="1219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6E675B"/>
                </a:solidFill>
                <a:latin typeface="Liter"/>
                <a:ea typeface="MiSans"/>
              </a:rPr>
              <a:t>人类</a:t>
            </a:r>
            <a:endParaRPr lang="en-US" sz="1400" noProof="1"/>
          </a:p>
        </p:txBody>
      </p:sp>
      <p:sp>
        <p:nvSpPr>
          <p:cNvPr id="8" name="trad-a1"/>
          <p:cNvSpPr/>
          <p:nvPr>
            <p:extLst>
              <p:ext uri="{F5677B7D-0D2A-4D9B-9A5C-6D8D7D0E5A5D}">
                <pptd:line encoding="base64url">eyJ2aWV3Qm94IjpbOTYsMTJdLCJwb2ludHMiOiIwLDYgOTYsNiJ9</pptd:line>
              </p:ext>
            </p:extLst>
          </p:nvPr>
        </p:nvSpPr>
        <p:spPr>
          <a:xfrm>
            <a:off x="4241800" y="2209800"/>
            <a:ext cx="1219200" cy="152400"/>
          </a:xfrm>
          <a:custGeom>
            <a:avLst/>
            <a:gdLst/>
            <a:ahLst/>
            <a:cxnLst/>
            <a:rect l="l" t="t" r="r" b="b"/>
            <a:pathLst>
              <a:path w="96" h="12">
                <a:moveTo>
                  <a:pt x="0" y="6"/>
                </a:moveTo>
                <a:lnTo>
                  <a:pt x="96" y="6"/>
                </a:lnTo>
              </a:path>
            </a:pathLst>
          </a:custGeom>
          <a:noFill/>
          <a:ln w="12700" cap="rnd">
            <a:solidFill>
              <a:srgbClr val="98907F"/>
            </a:solidFill>
            <a:round/>
            <a:tailEnd type="stealth"/>
          </a:ln>
        </p:spPr>
      </p:sp>
      <p:sp>
        <p:nvSpPr>
          <p:cNvPr id="9" name="trad-a1-t"/>
          <p:cNvSpPr txBox="1"/>
          <p:nvPr/>
        </p:nvSpPr>
        <p:spPr>
          <a:xfrm>
            <a:off x="4241800" y="1879600"/>
            <a:ext cx="1219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98907F"/>
                </a:solidFill>
                <a:latin typeface="Liter"/>
                <a:ea typeface="MiSans"/>
              </a:rPr>
              <a:t>写代码</a:t>
            </a:r>
            <a:endParaRPr lang="en-US" sz="1100" noProof="1"/>
          </a:p>
        </p:txBody>
      </p:sp>
      <p:sp>
        <p:nvSpPr>
          <p:cNvPr id="10" name="trad-n2"/>
          <p:cNvSpPr/>
          <p:nvPr/>
        </p:nvSpPr>
        <p:spPr>
          <a:xfrm>
            <a:off x="5562600" y="2032000"/>
            <a:ext cx="1219200" cy="508000"/>
          </a:xfrm>
          <a:prstGeom prst="rect">
            <a:avLst/>
          </a:prstGeom>
          <a:noFill/>
          <a:ln w="12700">
            <a:solidFill>
              <a:srgbClr val="98907F"/>
            </a:solidFill>
          </a:ln>
        </p:spPr>
      </p:sp>
      <p:sp>
        <p:nvSpPr>
          <p:cNvPr id="11" name="trad-n2-t"/>
          <p:cNvSpPr txBox="1"/>
          <p:nvPr/>
        </p:nvSpPr>
        <p:spPr>
          <a:xfrm>
            <a:off x="5562600" y="2032000"/>
            <a:ext cx="1219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6E675B"/>
                </a:solidFill>
                <a:latin typeface="Liter"/>
                <a:ea typeface="MiSans"/>
              </a:rPr>
              <a:t>代码</a:t>
            </a:r>
            <a:endParaRPr lang="en-US" sz="1400" noProof="1"/>
          </a:p>
        </p:txBody>
      </p:sp>
      <p:sp>
        <p:nvSpPr>
          <p:cNvPr id="12" name="trad-a2"/>
          <p:cNvSpPr/>
          <p:nvPr>
            <p:extLst>
              <p:ext uri="{F5677B7D-0D2A-4D9B-9A5C-6D8D7D0E5A5D}">
                <pptd:line encoding="base64url">eyJ2aWV3Qm94IjpbOTYsMTJdLCJwb2ludHMiOiIwLDYgOTYsNiJ9</pptd:line>
              </p:ext>
            </p:extLst>
          </p:nvPr>
        </p:nvSpPr>
        <p:spPr>
          <a:xfrm>
            <a:off x="6883400" y="2209800"/>
            <a:ext cx="1219200" cy="152400"/>
          </a:xfrm>
          <a:custGeom>
            <a:avLst/>
            <a:gdLst/>
            <a:ahLst/>
            <a:cxnLst/>
            <a:rect l="l" t="t" r="r" b="b"/>
            <a:pathLst>
              <a:path w="96" h="12">
                <a:moveTo>
                  <a:pt x="0" y="6"/>
                </a:moveTo>
                <a:lnTo>
                  <a:pt x="96" y="6"/>
                </a:lnTo>
              </a:path>
            </a:pathLst>
          </a:custGeom>
          <a:noFill/>
          <a:ln w="12700" cap="rnd">
            <a:solidFill>
              <a:srgbClr val="98907F"/>
            </a:solidFill>
            <a:round/>
            <a:tailEnd type="stealth"/>
          </a:ln>
        </p:spPr>
      </p:sp>
      <p:sp>
        <p:nvSpPr>
          <p:cNvPr id="13" name="trad-a2-t"/>
          <p:cNvSpPr txBox="1"/>
          <p:nvPr/>
        </p:nvSpPr>
        <p:spPr>
          <a:xfrm>
            <a:off x="6883400" y="1879600"/>
            <a:ext cx="1219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98907F"/>
                </a:solidFill>
                <a:latin typeface="Liter"/>
                <a:ea typeface="MiSans"/>
              </a:rPr>
              <a:t>执行</a:t>
            </a:r>
            <a:endParaRPr lang="en-US" sz="1100" noProof="1"/>
          </a:p>
        </p:txBody>
      </p:sp>
      <p:sp>
        <p:nvSpPr>
          <p:cNvPr id="14" name="trad-n3"/>
          <p:cNvSpPr/>
          <p:nvPr/>
        </p:nvSpPr>
        <p:spPr>
          <a:xfrm>
            <a:off x="8204200" y="2032000"/>
            <a:ext cx="1219200" cy="508000"/>
          </a:xfrm>
          <a:prstGeom prst="rect">
            <a:avLst/>
          </a:prstGeom>
          <a:noFill/>
          <a:ln w="12700">
            <a:solidFill>
              <a:srgbClr val="98907F"/>
            </a:solidFill>
          </a:ln>
        </p:spPr>
      </p:sp>
      <p:sp>
        <p:nvSpPr>
          <p:cNvPr id="15" name="trad-n3-t"/>
          <p:cNvSpPr txBox="1"/>
          <p:nvPr/>
        </p:nvSpPr>
        <p:spPr>
          <a:xfrm>
            <a:off x="8204200" y="2032000"/>
            <a:ext cx="1219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6E675B"/>
                </a:solidFill>
                <a:latin typeface="Liter"/>
                <a:ea typeface="MiSans"/>
              </a:rPr>
              <a:t>机器</a:t>
            </a:r>
            <a:endParaRPr lang="en-US" sz="1400" noProof="1"/>
          </a:p>
        </p:txBody>
      </p:sp>
      <p:sp>
        <p:nvSpPr>
          <p:cNvPr id="16" name="he-label"/>
          <p:cNvSpPr txBox="1"/>
          <p:nvPr/>
        </p:nvSpPr>
        <p:spPr>
          <a:xfrm>
            <a:off x="838200" y="3581400"/>
            <a:ext cx="1397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C2481D"/>
                </a:solidFill>
                <a:latin typeface="Liter"/>
                <a:ea typeface="MiSans"/>
              </a:rPr>
              <a:t>驭缰工程</a:t>
            </a:r>
            <a:endParaRPr lang="en-US" sz="1400" noProof="1"/>
          </a:p>
        </p:txBody>
      </p:sp>
      <p:sp>
        <p:nvSpPr>
          <p:cNvPr id="17" name="he-n1"/>
          <p:cNvSpPr/>
          <p:nvPr/>
        </p:nvSpPr>
        <p:spPr>
          <a:xfrm>
            <a:off x="2362200" y="3403600"/>
            <a:ext cx="1066800" cy="609600"/>
          </a:xfrm>
          <a:prstGeom prst="rect">
            <a:avLst/>
          </a:prstGeom>
          <a:noFill/>
          <a:ln w="19050">
            <a:solidFill>
              <a:srgbClr val="1F1C17"/>
            </a:solidFill>
          </a:ln>
        </p:spPr>
      </p:sp>
      <p:sp>
        <p:nvSpPr>
          <p:cNvPr id="18" name="he-n1-t"/>
          <p:cNvSpPr txBox="1"/>
          <p:nvPr/>
        </p:nvSpPr>
        <p:spPr>
          <a:xfrm>
            <a:off x="2362200" y="3403600"/>
            <a:ext cx="10668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1F1C17"/>
                </a:solidFill>
                <a:latin typeface="Liter"/>
                <a:ea typeface="MiSans"/>
              </a:rPr>
              <a:t>人类</a:t>
            </a:r>
            <a:endParaRPr lang="en-US" sz="1500" noProof="1"/>
          </a:p>
        </p:txBody>
      </p:sp>
      <p:sp>
        <p:nvSpPr>
          <p:cNvPr id="19" name="he-a1"/>
          <p:cNvSpPr/>
          <p:nvPr>
            <p:extLst>
              <p:ext uri="{F5677B7D-0D2A-4D9B-9A5C-6D8D7D0E5A5D}">
                <pptd:line encoding="base64url">eyJ2aWV3Qm94IjpbNTYsMTJdLCJwb2ludHMiOiIwLDYgNTYsNiJ9</pptd:line>
              </p:ext>
            </p:extLst>
          </p:nvPr>
        </p:nvSpPr>
        <p:spPr>
          <a:xfrm>
            <a:off x="3505200" y="3632200"/>
            <a:ext cx="711200" cy="152400"/>
          </a:xfrm>
          <a:custGeom>
            <a:avLst/>
            <a:gdLst/>
            <a:ahLst/>
            <a:cxnLst/>
            <a:rect l="l" t="t" r="r" b="b"/>
            <a:pathLst>
              <a:path w="56" h="12">
                <a:moveTo>
                  <a:pt x="0" y="6"/>
                </a:moveTo>
                <a:lnTo>
                  <a:pt x="56" y="6"/>
                </a:lnTo>
              </a:path>
            </a:pathLst>
          </a:custGeom>
          <a:noFill/>
          <a:ln w="19050" cap="rnd">
            <a:solidFill>
              <a:srgbClr val="1F1C17"/>
            </a:solidFill>
            <a:round/>
            <a:tailEnd type="stealth"/>
          </a:ln>
        </p:spPr>
      </p:sp>
      <p:sp>
        <p:nvSpPr>
          <p:cNvPr id="20" name="he-a1-t"/>
          <p:cNvSpPr txBox="1"/>
          <p:nvPr/>
        </p:nvSpPr>
        <p:spPr>
          <a:xfrm>
            <a:off x="3200400" y="3124200"/>
            <a:ext cx="1320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E675B"/>
                </a:solidFill>
                <a:latin typeface="Liter"/>
                <a:ea typeface="MiSans"/>
              </a:rPr>
              <a:t>设计约束</a:t>
            </a:r>
            <a:endParaRPr lang="en-US" sz="1100" noProof="1"/>
          </a:p>
        </p:txBody>
      </p:sp>
      <p:sp>
        <p:nvSpPr>
          <p:cNvPr id="21" name="he-n2"/>
          <p:cNvSpPr/>
          <p:nvPr/>
        </p:nvSpPr>
        <p:spPr>
          <a:xfrm>
            <a:off x="4292600" y="3276600"/>
            <a:ext cx="2133600" cy="863600"/>
          </a:xfrm>
          <a:prstGeom prst="rect">
            <a:avLst/>
          </a:prstGeom>
          <a:noFill/>
          <a:ln w="31750">
            <a:solidFill>
              <a:srgbClr val="C2481D"/>
            </a:solidFill>
          </a:ln>
        </p:spPr>
      </p:sp>
      <p:sp>
        <p:nvSpPr>
          <p:cNvPr id="22" name="he-n2-t"/>
          <p:cNvSpPr txBox="1"/>
          <p:nvPr/>
        </p:nvSpPr>
        <p:spPr>
          <a:xfrm>
            <a:off x="4292600" y="33528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 b="1">
                <a:solidFill>
                  <a:srgbClr val="C2481D"/>
                </a:solidFill>
                <a:latin typeface="得意黑"/>
                <a:ea typeface="得意黑"/>
              </a:rPr>
              <a:t>约束系统</a:t>
            </a:r>
            <a:endParaRPr lang="en-US" sz="1700" noProof="1"/>
          </a:p>
        </p:txBody>
      </p:sp>
      <p:sp>
        <p:nvSpPr>
          <p:cNvPr id="23" name="he-n2-sub"/>
          <p:cNvSpPr txBox="1"/>
          <p:nvPr/>
        </p:nvSpPr>
        <p:spPr>
          <a:xfrm>
            <a:off x="4292600" y="3759200"/>
            <a:ext cx="2133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30000"/>
              </a:lnSpc>
            </a:pPr>
            <a:r>
              <a:rPr lang="en-US" sz="1000" noProof="1">
                <a:solidFill>
                  <a:srgbClr val="6E675B"/>
                </a:solidFill>
                <a:latin typeface="Liter"/>
                <a:ea typeface="MiSans"/>
              </a:rPr>
              <a:t>AGENTS.md · 架构规则</a:t>
            </a:r>
            <a:endParaRPr lang="en-US" sz="1000" noProof="1"/>
          </a:p>
          <a:p>
            <a:pPr algn="ctr">
              <a:lnSpc>
                <a:spcPct val="130000"/>
              </a:lnSpc>
            </a:pPr>
            <a:r>
              <a:rPr lang="en-US" sz="1000" noProof="1">
                <a:solidFill>
                  <a:srgbClr val="6E675B"/>
                </a:solidFill>
                <a:latin typeface="Liter"/>
                <a:ea typeface="MiSans"/>
              </a:rPr>
              <a:t>自定义 linter · 反馈回路</a:t>
            </a:r>
            <a:endParaRPr lang="en-US" sz="1000" noProof="1"/>
          </a:p>
        </p:txBody>
      </p:sp>
      <p:sp>
        <p:nvSpPr>
          <p:cNvPr id="24" name="he-a2"/>
          <p:cNvSpPr/>
          <p:nvPr>
            <p:extLst>
              <p:ext uri="{F5677B7D-0D2A-4D9B-9A5C-6D8D7D0E5A5D}">
                <pptd:line encoding="base64url">eyJ2aWV3Qm94IjpbNTYsMTJdLCJwb2ludHMiOiIwLDYgNTYsNiJ9</pptd:line>
              </p:ext>
            </p:extLst>
          </p:nvPr>
        </p:nvSpPr>
        <p:spPr>
          <a:xfrm>
            <a:off x="6502400" y="3632200"/>
            <a:ext cx="711200" cy="152400"/>
          </a:xfrm>
          <a:custGeom>
            <a:avLst/>
            <a:gdLst/>
            <a:ahLst/>
            <a:cxnLst/>
            <a:rect l="l" t="t" r="r" b="b"/>
            <a:pathLst>
              <a:path w="56" h="12">
                <a:moveTo>
                  <a:pt x="0" y="6"/>
                </a:moveTo>
                <a:lnTo>
                  <a:pt x="56" y="6"/>
                </a:lnTo>
              </a:path>
            </a:pathLst>
          </a:custGeom>
          <a:noFill/>
          <a:ln w="19050" cap="rnd">
            <a:solidFill>
              <a:srgbClr val="1F1C17"/>
            </a:solidFill>
            <a:round/>
            <a:tailEnd type="stealth"/>
          </a:ln>
        </p:spPr>
      </p:sp>
      <p:sp>
        <p:nvSpPr>
          <p:cNvPr id="25" name="he-a2-t"/>
          <p:cNvSpPr txBox="1"/>
          <p:nvPr/>
        </p:nvSpPr>
        <p:spPr>
          <a:xfrm>
            <a:off x="6197600" y="3124200"/>
            <a:ext cx="1320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E675B"/>
                </a:solidFill>
                <a:latin typeface="Liter"/>
                <a:ea typeface="MiSans"/>
              </a:rPr>
              <a:t>指导</a:t>
            </a:r>
            <a:endParaRPr lang="en-US" sz="1100" noProof="1"/>
          </a:p>
        </p:txBody>
      </p:sp>
      <p:sp>
        <p:nvSpPr>
          <p:cNvPr id="26" name="he-n3"/>
          <p:cNvSpPr/>
          <p:nvPr/>
        </p:nvSpPr>
        <p:spPr>
          <a:xfrm>
            <a:off x="7289800" y="3403600"/>
            <a:ext cx="1168400" cy="609600"/>
          </a:xfrm>
          <a:prstGeom prst="rect">
            <a:avLst/>
          </a:prstGeom>
          <a:noFill/>
          <a:ln w="19050">
            <a:solidFill>
              <a:srgbClr val="1F1C17"/>
            </a:solidFill>
          </a:ln>
        </p:spPr>
      </p:sp>
      <p:sp>
        <p:nvSpPr>
          <p:cNvPr id="27" name="he-n3-t"/>
          <p:cNvSpPr txBox="1"/>
          <p:nvPr/>
        </p:nvSpPr>
        <p:spPr>
          <a:xfrm>
            <a:off x="7289800" y="3403600"/>
            <a:ext cx="11684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1F1C17"/>
                </a:solidFill>
                <a:latin typeface="Liter"/>
                <a:ea typeface="MiSans"/>
              </a:rPr>
              <a:t>智能体</a:t>
            </a:r>
            <a:endParaRPr lang="en-US" sz="1500" noProof="1"/>
          </a:p>
        </p:txBody>
      </p:sp>
      <p:sp>
        <p:nvSpPr>
          <p:cNvPr id="28" name="he-a3"/>
          <p:cNvSpPr/>
          <p:nvPr>
            <p:extLst>
              <p:ext uri="{F5677B7D-0D2A-4D9B-9A5C-6D8D7D0E5A5D}">
                <pptd:line encoding="base64url">eyJ2aWV3Qm94IjpbNDgsMTJdLCJwb2ludHMiOiIwLDYgNDgsNiJ9</pptd:line>
              </p:ext>
            </p:extLst>
          </p:nvPr>
        </p:nvSpPr>
        <p:spPr>
          <a:xfrm>
            <a:off x="8534400" y="3632200"/>
            <a:ext cx="609600" cy="152400"/>
          </a:xfrm>
          <a:custGeom>
            <a:avLst/>
            <a:gdLst/>
            <a:ahLst/>
            <a:cxnLst/>
            <a:rect l="l" t="t" r="r" b="b"/>
            <a:pathLst>
              <a:path w="48" h="12">
                <a:moveTo>
                  <a:pt x="0" y="6"/>
                </a:moveTo>
                <a:lnTo>
                  <a:pt x="48" y="6"/>
                </a:lnTo>
              </a:path>
            </a:pathLst>
          </a:custGeom>
          <a:noFill/>
          <a:ln w="19050" cap="rnd">
            <a:solidFill>
              <a:srgbClr val="1F1C17"/>
            </a:solidFill>
            <a:round/>
            <a:tailEnd type="stealth"/>
          </a:ln>
        </p:spPr>
      </p:sp>
      <p:sp>
        <p:nvSpPr>
          <p:cNvPr id="29" name="he-a3-t"/>
          <p:cNvSpPr txBox="1"/>
          <p:nvPr/>
        </p:nvSpPr>
        <p:spPr>
          <a:xfrm>
            <a:off x="8229600" y="3124200"/>
            <a:ext cx="1219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E675B"/>
                </a:solidFill>
                <a:latin typeface="Liter"/>
                <a:ea typeface="MiSans"/>
              </a:rPr>
              <a:t>写代码</a:t>
            </a:r>
            <a:endParaRPr lang="en-US" sz="1100" noProof="1"/>
          </a:p>
        </p:txBody>
      </p:sp>
      <p:sp>
        <p:nvSpPr>
          <p:cNvPr id="30" name="he-n4"/>
          <p:cNvSpPr/>
          <p:nvPr/>
        </p:nvSpPr>
        <p:spPr>
          <a:xfrm>
            <a:off x="9220200" y="3403600"/>
            <a:ext cx="914400" cy="609600"/>
          </a:xfrm>
          <a:prstGeom prst="rect">
            <a:avLst/>
          </a:prstGeom>
          <a:noFill/>
          <a:ln w="19050">
            <a:solidFill>
              <a:srgbClr val="1F1C17"/>
            </a:solidFill>
          </a:ln>
        </p:spPr>
      </p:sp>
      <p:sp>
        <p:nvSpPr>
          <p:cNvPr id="31" name="he-n4-t"/>
          <p:cNvSpPr txBox="1"/>
          <p:nvPr/>
        </p:nvSpPr>
        <p:spPr>
          <a:xfrm>
            <a:off x="9220200" y="3403600"/>
            <a:ext cx="9144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>
                <a:solidFill>
                  <a:srgbClr val="1F1C17"/>
                </a:solidFill>
                <a:latin typeface="Liter"/>
                <a:ea typeface="MiSans"/>
              </a:rPr>
              <a:t>代码</a:t>
            </a:r>
            <a:endParaRPr lang="en-US" sz="1500" noProof="1"/>
          </a:p>
        </p:txBody>
      </p:sp>
      <p:sp>
        <p:nvSpPr>
          <p:cNvPr id="32" name="he-a4"/>
          <p:cNvSpPr/>
          <p:nvPr>
            <p:extLst>
              <p:ext uri="{F5677B7D-0D2A-4D9B-9A5C-6D8D7D0E5A5D}">
                <pptd:line encoding="base64url">eyJ2aWV3Qm94IjpbMjgsMTJdLCJwb2ludHMiOiIwLDYgMjgsNiJ9</pptd:line>
              </p:ext>
            </p:extLst>
          </p:nvPr>
        </p:nvSpPr>
        <p:spPr>
          <a:xfrm>
            <a:off x="10210800" y="3632200"/>
            <a:ext cx="355600" cy="152400"/>
          </a:xfrm>
          <a:custGeom>
            <a:avLst/>
            <a:gdLst/>
            <a:ahLst/>
            <a:cxnLst/>
            <a:rect l="l" t="t" r="r" b="b"/>
            <a:pathLst>
              <a:path w="28" h="12">
                <a:moveTo>
                  <a:pt x="0" y="6"/>
                </a:moveTo>
                <a:lnTo>
                  <a:pt x="28" y="6"/>
                </a:lnTo>
              </a:path>
            </a:pathLst>
          </a:custGeom>
          <a:noFill/>
          <a:ln w="19050" cap="rnd">
            <a:solidFill>
              <a:srgbClr val="1F1C17"/>
            </a:solidFill>
            <a:round/>
            <a:tailEnd type="stealth"/>
          </a:ln>
        </p:spPr>
      </p:sp>
      <p:sp>
        <p:nvSpPr>
          <p:cNvPr id="33" name="he-n5-box"/>
          <p:cNvSpPr/>
          <p:nvPr/>
        </p:nvSpPr>
        <p:spPr>
          <a:xfrm>
            <a:off x="10642600" y="3403600"/>
            <a:ext cx="711200" cy="609600"/>
          </a:xfrm>
          <a:prstGeom prst="rect">
            <a:avLst/>
          </a:prstGeom>
          <a:noFill/>
          <a:ln w="19050">
            <a:solidFill>
              <a:srgbClr val="1F1C17"/>
            </a:solidFill>
          </a:ln>
        </p:spPr>
      </p:sp>
      <p:sp>
        <p:nvSpPr>
          <p:cNvPr id="34" name="he-n5"/>
          <p:cNvSpPr txBox="1"/>
          <p:nvPr/>
        </p:nvSpPr>
        <p:spPr>
          <a:xfrm>
            <a:off x="10642600" y="3403600"/>
            <a:ext cx="711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>
                <a:solidFill>
                  <a:srgbClr val="1F1C17"/>
                </a:solidFill>
                <a:latin typeface="Liter"/>
                <a:ea typeface="MiSans"/>
              </a:rPr>
              <a:t>机器</a:t>
            </a:r>
            <a:endParaRPr lang="en-US" sz="1500" noProof="1"/>
          </a:p>
        </p:txBody>
      </p:sp>
      <p:sp>
        <p:nvSpPr>
          <p:cNvPr id="35" name="fb-loop"/>
          <p:cNvSpPr/>
          <p:nvPr>
            <p:extLst>
              <p:ext uri="{F5677B7D-0D2A-4D9B-9A5C-6D8D7D0E5A5D}">
                <pptd:line encoding="base64url">eyJ2aWV3Qm94IjpbNDAwLDY2XSwicG9pbnRzIjoiMzkwLDAgMzYwLDU4IDYwLDU4IDMyLDE0IiwiY3VydmUiOiJzbW9vdGgifQ</pptd:line>
              </p:ext>
            </p:extLst>
          </p:nvPr>
        </p:nvSpPr>
        <p:spPr>
          <a:xfrm>
            <a:off x="5461000" y="4267200"/>
            <a:ext cx="5080000" cy="838200"/>
          </a:xfrm>
          <a:custGeom>
            <a:avLst/>
            <a:gdLst/>
            <a:ahLst/>
            <a:cxnLst/>
            <a:rect l="l" t="t" r="r" b="b"/>
            <a:pathLst>
              <a:path w="400" h="66">
                <a:moveTo>
                  <a:pt x="390" y="0"/>
                </a:moveTo>
                <a:cubicBezTo>
                  <a:pt x="360" y="58"/>
                  <a:pt x="60" y="58"/>
                  <a:pt x="32" y="14"/>
                </a:cubicBezTo>
              </a:path>
            </a:pathLst>
          </a:custGeom>
          <a:noFill/>
          <a:ln w="19050" cap="rnd">
            <a:solidFill>
              <a:srgbClr val="C2481D"/>
            </a:solidFill>
            <a:round/>
            <a:tailEnd type="stealth"/>
          </a:ln>
        </p:spPr>
      </p:sp>
      <p:sp>
        <p:nvSpPr>
          <p:cNvPr id="36" name="fb-label"/>
          <p:cNvSpPr txBox="1"/>
          <p:nvPr/>
        </p:nvSpPr>
        <p:spPr>
          <a:xfrm>
            <a:off x="5969000" y="5130800"/>
            <a:ext cx="4064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C2481D"/>
                </a:solidFill>
                <a:latin typeface="Liter"/>
                <a:ea typeface="MiSans"/>
              </a:rPr>
              <a:t>反馈回路 · lint / 测试 / CI 信号回流约束</a:t>
            </a:r>
            <a:endParaRPr lang="en-US" sz="1100" noProof="1"/>
          </a:p>
        </p:txBody>
      </p:sp>
      <p:sp>
        <p:nvSpPr>
          <p:cNvPr id="37" name="def-rule"/>
          <p:cNvSpPr/>
          <p:nvPr/>
        </p:nvSpPr>
        <p:spPr>
          <a:xfrm>
            <a:off x="838200" y="5613400"/>
            <a:ext cx="105156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</p:sp>
      <p:sp>
        <p:nvSpPr>
          <p:cNvPr id="38" name="definition"/>
          <p:cNvSpPr txBox="1"/>
          <p:nvPr/>
        </p:nvSpPr>
        <p:spPr>
          <a:xfrm>
            <a:off x="838200" y="57658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6E675B"/>
                </a:solidFill>
                <a:latin typeface="Liter"/>
                <a:ea typeface="MiSans"/>
              </a:rPr>
              <a:t>Harness Engineering（驭缰工程）：OpenAI 于 2026 年 2 月提出的工程范式——工程师设计环境、明确意图、构建反馈回路，让智能体可靠地完成工作。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6E675B"/>
                </a:solidFill>
                <a:latin typeface="Liter"/>
                <a:ea typeface="MiSans"/>
              </a:rPr>
              <a:t>来源：</a:t>
            </a:r>
            <a:r>
              <a:rPr lang="en-US" sz="1250" noProof="1" u="sng">
                <a:solidFill>
                  <a:srgbClr val="0563C1"/>
                </a:solidFill>
                <a:latin typeface="Liter"/>
                <a:ea typeface="MiSans"/>
                <a:hlinkClick r:id="rId3"/>
              </a:rPr>
              <a:t>OpenAI — Harness Engineering: Harnessing Codex in an Agent-First World</a:t>
            </a:r>
            <a:endParaRPr lang="en-US" sz="1250" noProof="1"/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38200" y="660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400" kern="0">
                <a:solidFill>
                  <a:srgbClr val="C2481D"/>
                </a:solidFill>
                <a:latin typeface="Liter"/>
                <a:ea typeface="MiSans"/>
              </a:rPr>
              <a:t>02 · 概念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838200" y="965200"/>
            <a:ext cx="10515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1F1C17"/>
                </a:solidFill>
                <a:latin typeface="得意黑"/>
                <a:ea typeface="得意黑"/>
              </a:rPr>
              <a:t>六个概念，围成一条闭合的缰绳</a:t>
            </a:r>
            <a:endParaRPr lang="en-US" sz="3000" noProof="1"/>
          </a:p>
        </p:txBody>
      </p:sp>
      <p:sp>
        <p:nvSpPr>
          <p:cNvPr id="4" name="title-rule"/>
          <p:cNvSpPr/>
          <p:nvPr/>
        </p:nvSpPr>
        <p:spPr>
          <a:xfrm>
            <a:off x="838200" y="1625600"/>
            <a:ext cx="105156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</p:sp>
      <p:sp>
        <p:nvSpPr>
          <p:cNvPr id="5" name="loop"/>
          <p:cNvSpPr/>
          <p:nvPr/>
        </p:nvSpPr>
        <p:spPr>
          <a:xfrm>
            <a:off x="5181600" y="2133600"/>
            <a:ext cx="1828800" cy="3657600"/>
          </a:xfrm>
          <a:prstGeom prst="ellipse">
            <a:avLst/>
          </a:prstGeom>
          <a:noFill/>
          <a:ln w="25400">
            <a:solidFill>
              <a:srgbClr val="C2481D"/>
            </a:solidFill>
          </a:ln>
        </p:spPr>
      </p:sp>
      <p:sp>
        <p:nvSpPr>
          <p:cNvPr id="6" name="loop-arrow"/>
          <p:cNvSpPr/>
          <p:nvPr>
            <p:extLst>
              <p:ext uri="{F5677B7D-0D2A-4D9B-9A5C-6D8D7D0E5A5D}">
                <pptd:line encoding="base64url">eyJ2aWV3Qm94IjpbNDQsMjJdLCJwb2ludHMiOiIwLDE2IDIyLDggNDQsMTIiLCJjdXJ2ZSI6InNtb290aCJ9</pptd:line>
              </p:ext>
            </p:extLst>
          </p:nvPr>
        </p:nvSpPr>
        <p:spPr>
          <a:xfrm>
            <a:off x="5867400" y="1981200"/>
            <a:ext cx="558800" cy="279400"/>
          </a:xfrm>
          <a:custGeom>
            <a:avLst/>
            <a:gdLst/>
            <a:ahLst/>
            <a:cxnLst/>
            <a:rect l="l" t="t" r="r" b="b"/>
            <a:pathLst>
              <a:path w="44" h="22">
                <a:moveTo>
                  <a:pt x="0" y="16"/>
                </a:moveTo>
                <a:quadBezTo>
                  <a:pt x="22" y="8"/>
                  <a:pt x="44" y="12"/>
                </a:quadBezTo>
              </a:path>
            </a:pathLst>
          </a:custGeom>
          <a:noFill/>
          <a:ln w="25400" cap="rnd">
            <a:solidFill>
              <a:srgbClr val="C2481D"/>
            </a:solidFill>
            <a:round/>
            <a:tailEnd type="stealth"/>
          </a:ln>
        </p:spPr>
      </p:sp>
      <p:sp>
        <p:nvSpPr>
          <p:cNvPr id="7" name="loop-cn"/>
          <p:cNvSpPr txBox="1"/>
          <p:nvPr/>
        </p:nvSpPr>
        <p:spPr>
          <a:xfrm>
            <a:off x="5181600" y="3657600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100" noProof="1">
                <a:solidFill>
                  <a:srgbClr val="1F1C17"/>
                </a:solidFill>
                <a:latin typeface="得意黑"/>
                <a:ea typeface="得意黑"/>
              </a:rPr>
              <a:t>驭缰</a:t>
            </a:r>
            <a:endParaRPr lang="en-US" sz="2100" noProof="1"/>
          </a:p>
        </p:txBody>
      </p:sp>
      <p:sp>
        <p:nvSpPr>
          <p:cNvPr id="8" name="loop-en"/>
          <p:cNvSpPr txBox="1"/>
          <p:nvPr/>
        </p:nvSpPr>
        <p:spPr>
          <a:xfrm>
            <a:off x="5181600" y="4089400"/>
            <a:ext cx="182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 spc="300" kern="0">
                <a:solidFill>
                  <a:srgbClr val="98907F"/>
                </a:solidFill>
                <a:latin typeface="Liter"/>
                <a:ea typeface="Liter"/>
              </a:rPr>
              <a:t>HARNESS</a:t>
            </a:r>
            <a:endParaRPr lang="en-US" sz="1000" noProof="1"/>
          </a:p>
        </p:txBody>
      </p:sp>
      <p:sp>
        <p:nvSpPr>
          <p:cNvPr id="9" name="dot-1"/>
          <p:cNvSpPr/>
          <p:nvPr/>
        </p:nvSpPr>
        <p:spPr>
          <a:xfrm>
            <a:off x="5575300" y="2374900"/>
            <a:ext cx="127000" cy="127000"/>
          </a:xfrm>
          <a:prstGeom prst="ellipse">
            <a:avLst/>
          </a:prstGeom>
          <a:solidFill>
            <a:srgbClr val="1F1C17"/>
          </a:solidFill>
          <a:ln>
            <a:noFill/>
          </a:ln>
        </p:spPr>
      </p:sp>
      <p:sp>
        <p:nvSpPr>
          <p:cNvPr id="10" name="dot-2"/>
          <p:cNvSpPr/>
          <p:nvPr/>
        </p:nvSpPr>
        <p:spPr>
          <a:xfrm>
            <a:off x="5118100" y="3898900"/>
            <a:ext cx="127000" cy="127000"/>
          </a:xfrm>
          <a:prstGeom prst="ellipse">
            <a:avLst/>
          </a:prstGeom>
          <a:solidFill>
            <a:srgbClr val="1F1C17"/>
          </a:solidFill>
          <a:ln>
            <a:noFill/>
          </a:ln>
        </p:spPr>
      </p:sp>
      <p:sp>
        <p:nvSpPr>
          <p:cNvPr id="11" name="dot-3"/>
          <p:cNvSpPr/>
          <p:nvPr/>
        </p:nvSpPr>
        <p:spPr>
          <a:xfrm>
            <a:off x="5575300" y="5422900"/>
            <a:ext cx="127000" cy="127000"/>
          </a:xfrm>
          <a:prstGeom prst="ellipse">
            <a:avLst/>
          </a:prstGeom>
          <a:solidFill>
            <a:srgbClr val="1F1C17"/>
          </a:solidFill>
          <a:ln>
            <a:noFill/>
          </a:ln>
        </p:spPr>
      </p:sp>
      <p:sp>
        <p:nvSpPr>
          <p:cNvPr id="12" name="dot-4"/>
          <p:cNvSpPr/>
          <p:nvPr/>
        </p:nvSpPr>
        <p:spPr>
          <a:xfrm>
            <a:off x="6489700" y="2374900"/>
            <a:ext cx="127000" cy="127000"/>
          </a:xfrm>
          <a:prstGeom prst="ellipse">
            <a:avLst/>
          </a:prstGeom>
          <a:solidFill>
            <a:srgbClr val="1F1C17"/>
          </a:solidFill>
          <a:ln>
            <a:noFill/>
          </a:ln>
        </p:spPr>
      </p:sp>
      <p:sp>
        <p:nvSpPr>
          <p:cNvPr id="13" name="dot-5"/>
          <p:cNvSpPr/>
          <p:nvPr/>
        </p:nvSpPr>
        <p:spPr>
          <a:xfrm>
            <a:off x="6946900" y="3898900"/>
            <a:ext cx="127000" cy="127000"/>
          </a:xfrm>
          <a:prstGeom prst="ellipse">
            <a:avLst/>
          </a:prstGeom>
          <a:solidFill>
            <a:srgbClr val="1F1C17"/>
          </a:solidFill>
          <a:ln>
            <a:noFill/>
          </a:ln>
        </p:spPr>
      </p:sp>
      <p:sp>
        <p:nvSpPr>
          <p:cNvPr id="14" name="dot-6"/>
          <p:cNvSpPr/>
          <p:nvPr/>
        </p:nvSpPr>
        <p:spPr>
          <a:xfrm>
            <a:off x="6489700" y="5422900"/>
            <a:ext cx="127000" cy="127000"/>
          </a:xfrm>
          <a:prstGeom prst="ellipse">
            <a:avLst/>
          </a:prstGeom>
          <a:solidFill>
            <a:srgbClr val="1F1C17"/>
          </a:solidFill>
          <a:ln>
            <a:noFill/>
          </a:ln>
        </p:spPr>
      </p:sp>
      <p:sp>
        <p:nvSpPr>
          <p:cNvPr id="15" name="c1-num"/>
          <p:cNvSpPr txBox="1"/>
          <p:nvPr/>
        </p:nvSpPr>
        <p:spPr>
          <a:xfrm>
            <a:off x="838200" y="1930400"/>
            <a:ext cx="3937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200" noProof="1" b="1">
                <a:solidFill>
                  <a:srgbClr val="C2481D"/>
                </a:solidFill>
                <a:latin typeface="得意黑"/>
                <a:ea typeface="得意黑"/>
              </a:rPr>
              <a:t>01</a:t>
            </a:r>
            <a:endParaRPr lang="en-US" sz="1200" noProof="1"/>
          </a:p>
        </p:txBody>
      </p:sp>
      <p:sp>
        <p:nvSpPr>
          <p:cNvPr id="16" name="c1-name"/>
          <p:cNvSpPr txBox="1"/>
          <p:nvPr/>
        </p:nvSpPr>
        <p:spPr>
          <a:xfrm>
            <a:off x="838200" y="2159000"/>
            <a:ext cx="3937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800" noProof="1" b="1">
                <a:solidFill>
                  <a:srgbClr val="1F1C17"/>
                </a:solidFill>
                <a:latin typeface="得意黑"/>
                <a:ea typeface="得意黑"/>
              </a:rPr>
              <a:t>仓库即记录系统</a:t>
            </a:r>
            <a:endParaRPr lang="en-US" sz="1800" noProof="1"/>
          </a:p>
        </p:txBody>
      </p:sp>
      <p:sp>
        <p:nvSpPr>
          <p:cNvPr id="17" name="c1-desc"/>
          <p:cNvSpPr txBox="1"/>
          <p:nvPr/>
        </p:nvSpPr>
        <p:spPr>
          <a:xfrm>
            <a:off x="838200" y="2514600"/>
            <a:ext cx="3937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75B"/>
                </a:solidFill>
                <a:latin typeface="Liter"/>
                <a:ea typeface="MiSans"/>
              </a:rPr>
              <a:t>不在仓库里的东西，对智能体不存在</a:t>
            </a:r>
            <a:endParaRPr lang="en-US" sz="1200" noProof="1"/>
          </a:p>
        </p:txBody>
      </p:sp>
      <p:sp>
        <p:nvSpPr>
          <p:cNvPr id="18" name="c2-num"/>
          <p:cNvSpPr txBox="1"/>
          <p:nvPr/>
        </p:nvSpPr>
        <p:spPr>
          <a:xfrm>
            <a:off x="838200" y="3454400"/>
            <a:ext cx="3937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200" noProof="1" b="1">
                <a:solidFill>
                  <a:srgbClr val="C2481D"/>
                </a:solidFill>
                <a:latin typeface="得意黑"/>
                <a:ea typeface="得意黑"/>
              </a:rPr>
              <a:t>02</a:t>
            </a:r>
            <a:endParaRPr lang="en-US" sz="1200" noProof="1"/>
          </a:p>
        </p:txBody>
      </p:sp>
      <p:sp>
        <p:nvSpPr>
          <p:cNvPr id="19" name="c2-name"/>
          <p:cNvSpPr txBox="1"/>
          <p:nvPr/>
        </p:nvSpPr>
        <p:spPr>
          <a:xfrm>
            <a:off x="838200" y="3683000"/>
            <a:ext cx="3937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800" noProof="1" b="1">
                <a:solidFill>
                  <a:srgbClr val="1F1C17"/>
                </a:solidFill>
                <a:latin typeface="得意黑"/>
                <a:ea typeface="得意黑"/>
              </a:rPr>
              <a:t>地图而非手册</a:t>
            </a:r>
            <a:endParaRPr lang="en-US" sz="1800" noProof="1"/>
          </a:p>
        </p:txBody>
      </p:sp>
      <p:sp>
        <p:nvSpPr>
          <p:cNvPr id="20" name="c2-desc"/>
          <p:cNvSpPr txBox="1"/>
          <p:nvPr/>
        </p:nvSpPr>
        <p:spPr>
          <a:xfrm>
            <a:off x="838200" y="4038600"/>
            <a:ext cx="3937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75B"/>
                </a:solidFill>
                <a:latin typeface="Liter"/>
                <a:ea typeface="MiSans"/>
              </a:rPr>
              <a:t>AGENTS.md 是目录页，不是百科全书</a:t>
            </a:r>
            <a:endParaRPr lang="en-US" sz="1200" noProof="1"/>
          </a:p>
        </p:txBody>
      </p:sp>
      <p:sp>
        <p:nvSpPr>
          <p:cNvPr id="21" name="c3-num"/>
          <p:cNvSpPr txBox="1"/>
          <p:nvPr/>
        </p:nvSpPr>
        <p:spPr>
          <a:xfrm>
            <a:off x="838200" y="4978400"/>
            <a:ext cx="3937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200" noProof="1" b="1">
                <a:solidFill>
                  <a:srgbClr val="C2481D"/>
                </a:solidFill>
                <a:latin typeface="得意黑"/>
                <a:ea typeface="得意黑"/>
              </a:rPr>
              <a:t>03</a:t>
            </a:r>
            <a:endParaRPr lang="en-US" sz="1200" noProof="1"/>
          </a:p>
        </p:txBody>
      </p:sp>
      <p:sp>
        <p:nvSpPr>
          <p:cNvPr id="22" name="c3-name"/>
          <p:cNvSpPr txBox="1"/>
          <p:nvPr/>
        </p:nvSpPr>
        <p:spPr>
          <a:xfrm>
            <a:off x="838200" y="5207000"/>
            <a:ext cx="3937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800" noProof="1" b="1">
                <a:solidFill>
                  <a:srgbClr val="1F1C17"/>
                </a:solidFill>
                <a:latin typeface="得意黑"/>
                <a:ea typeface="得意黑"/>
              </a:rPr>
              <a:t>机械化执行</a:t>
            </a:r>
            <a:endParaRPr lang="en-US" sz="1800" noProof="1"/>
          </a:p>
        </p:txBody>
      </p:sp>
      <p:sp>
        <p:nvSpPr>
          <p:cNvPr id="23" name="c3-desc"/>
          <p:cNvSpPr txBox="1"/>
          <p:nvPr/>
        </p:nvSpPr>
        <p:spPr>
          <a:xfrm>
            <a:off x="838200" y="5562600"/>
            <a:ext cx="3937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75B"/>
                </a:solidFill>
                <a:latin typeface="Liter"/>
                <a:ea typeface="MiSans"/>
              </a:rPr>
              <a:t>文档会腐烂，lint 规则不会</a:t>
            </a:r>
            <a:endParaRPr lang="en-US" sz="1200" noProof="1"/>
          </a:p>
        </p:txBody>
      </p:sp>
      <p:sp>
        <p:nvSpPr>
          <p:cNvPr id="24" name="c4-num"/>
          <p:cNvSpPr txBox="1"/>
          <p:nvPr/>
        </p:nvSpPr>
        <p:spPr>
          <a:xfrm>
            <a:off x="7416800" y="1930400"/>
            <a:ext cx="3937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C2481D"/>
                </a:solidFill>
                <a:latin typeface="得意黑"/>
                <a:ea typeface="得意黑"/>
              </a:rPr>
              <a:t>04</a:t>
            </a:r>
            <a:endParaRPr lang="en-US" sz="1200" noProof="1"/>
          </a:p>
        </p:txBody>
      </p:sp>
      <p:sp>
        <p:nvSpPr>
          <p:cNvPr id="25" name="c4-name"/>
          <p:cNvSpPr txBox="1"/>
          <p:nvPr/>
        </p:nvSpPr>
        <p:spPr>
          <a:xfrm>
            <a:off x="7416800" y="2159000"/>
            <a:ext cx="3937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1F1C17"/>
                </a:solidFill>
                <a:latin typeface="得意黑"/>
                <a:ea typeface="得意黑"/>
              </a:rPr>
              <a:t>智能体可读性</a:t>
            </a:r>
            <a:endParaRPr lang="en-US" sz="1800" noProof="1"/>
          </a:p>
        </p:txBody>
      </p:sp>
      <p:sp>
        <p:nvSpPr>
          <p:cNvPr id="26" name="c4-desc"/>
          <p:cNvSpPr txBox="1"/>
          <p:nvPr/>
        </p:nvSpPr>
        <p:spPr>
          <a:xfrm>
            <a:off x="7416800" y="2514600"/>
            <a:ext cx="3937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75B"/>
                </a:solidFill>
                <a:latin typeface="Liter"/>
                <a:ea typeface="MiSans"/>
              </a:rPr>
              <a:t>优先为智能体的推理能力优化</a:t>
            </a:r>
            <a:endParaRPr lang="en-US" sz="1200" noProof="1"/>
          </a:p>
        </p:txBody>
      </p:sp>
      <p:sp>
        <p:nvSpPr>
          <p:cNvPr id="27" name="c5-num"/>
          <p:cNvSpPr txBox="1"/>
          <p:nvPr/>
        </p:nvSpPr>
        <p:spPr>
          <a:xfrm>
            <a:off x="7416800" y="3454400"/>
            <a:ext cx="3937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C2481D"/>
                </a:solidFill>
                <a:latin typeface="得意黑"/>
                <a:ea typeface="得意黑"/>
              </a:rPr>
              <a:t>05</a:t>
            </a:r>
            <a:endParaRPr lang="en-US" sz="1200" noProof="1"/>
          </a:p>
        </p:txBody>
      </p:sp>
      <p:sp>
        <p:nvSpPr>
          <p:cNvPr id="28" name="c5-name"/>
          <p:cNvSpPr txBox="1"/>
          <p:nvPr/>
        </p:nvSpPr>
        <p:spPr>
          <a:xfrm>
            <a:off x="7416800" y="3683000"/>
            <a:ext cx="3937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1F1C17"/>
                </a:solidFill>
                <a:latin typeface="得意黑"/>
                <a:ea typeface="得意黑"/>
              </a:rPr>
              <a:t>吞吐量改变合并理念</a:t>
            </a:r>
            <a:endParaRPr lang="en-US" sz="1800" noProof="1"/>
          </a:p>
        </p:txBody>
      </p:sp>
      <p:sp>
        <p:nvSpPr>
          <p:cNvPr id="29" name="c5-desc"/>
          <p:cNvSpPr txBox="1"/>
          <p:nvPr/>
        </p:nvSpPr>
        <p:spPr>
          <a:xfrm>
            <a:off x="7416800" y="4038600"/>
            <a:ext cx="3937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75B"/>
                </a:solidFill>
                <a:latin typeface="Liter"/>
                <a:ea typeface="MiSans"/>
              </a:rPr>
              <a:t>纠错成本低，等待成本高</a:t>
            </a:r>
            <a:endParaRPr lang="en-US" sz="1200" noProof="1"/>
          </a:p>
        </p:txBody>
      </p:sp>
      <p:sp>
        <p:nvSpPr>
          <p:cNvPr id="30" name="c6-num"/>
          <p:cNvSpPr txBox="1"/>
          <p:nvPr/>
        </p:nvSpPr>
        <p:spPr>
          <a:xfrm>
            <a:off x="7416800" y="4978400"/>
            <a:ext cx="3937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C2481D"/>
                </a:solidFill>
                <a:latin typeface="得意黑"/>
                <a:ea typeface="得意黑"/>
              </a:rPr>
              <a:t>06</a:t>
            </a:r>
            <a:endParaRPr lang="en-US" sz="1200" noProof="1"/>
          </a:p>
        </p:txBody>
      </p:sp>
      <p:sp>
        <p:nvSpPr>
          <p:cNvPr id="31" name="c6-name"/>
          <p:cNvSpPr txBox="1"/>
          <p:nvPr/>
        </p:nvSpPr>
        <p:spPr>
          <a:xfrm>
            <a:off x="7416800" y="5207000"/>
            <a:ext cx="3937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1F1C17"/>
                </a:solidFill>
                <a:latin typeface="得意黑"/>
                <a:ea typeface="得意黑"/>
              </a:rPr>
              <a:t>熵管理 = 垃圾回收</a:t>
            </a:r>
            <a:endParaRPr lang="en-US" sz="1800" noProof="1"/>
          </a:p>
        </p:txBody>
      </p:sp>
      <p:sp>
        <p:nvSpPr>
          <p:cNvPr id="32" name="c6-desc"/>
          <p:cNvSpPr txBox="1"/>
          <p:nvPr/>
        </p:nvSpPr>
        <p:spPr>
          <a:xfrm>
            <a:off x="7416800" y="5562600"/>
            <a:ext cx="3937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75B"/>
                </a:solidFill>
                <a:latin typeface="Liter"/>
                <a:ea typeface="MiSans"/>
              </a:rPr>
              <a:t>技术债是高息贷款</a:t>
            </a:r>
            <a:endParaRPr lang="en-US" sz="1200" noProof="1"/>
          </a:p>
        </p:txBody>
      </p:sp>
      <p:sp>
        <p:nvSpPr>
          <p:cNvPr id="33" name="foot"/>
          <p:cNvSpPr txBox="1"/>
          <p:nvPr/>
        </p:nvSpPr>
        <p:spPr>
          <a:xfrm>
            <a:off x="838200" y="6172200"/>
            <a:ext cx="10515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98907F"/>
                </a:solidFill>
                <a:latin typeface="Liter"/>
                <a:ea typeface="MiSans"/>
              </a:rPr>
              <a:t>逐条拆解见 concepts/ 目录（8 篇笔记：六大概念 + Fowler 控制论扩展 + 约束即产品）</a:t>
            </a:r>
            <a:endParaRPr lang="en-US" sz="1100" noProof="1"/>
          </a:p>
        </p:txBody>
      </p:sp>
      <p:cxnSp>
        <p:nvCxnSpPr>
          <p:cNvPr id="34" name="Connector 33"/>
          <p:cNvCxnSpPr/>
          <p:nvPr/>
        </p:nvCxnSpPr>
        <p:spPr>
          <a:xfrm>
            <a:off x="4876800" y="2438400"/>
            <a:ext cx="673100" cy="0"/>
          </a:xfrm>
          <a:prstGeom prst="line">
            <a:avLst/>
          </a:prstGeom>
          <a:ln w="12700">
            <a:solidFill>
              <a:srgbClr val="9890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876800" y="3962400"/>
            <a:ext cx="215900" cy="0"/>
          </a:xfrm>
          <a:prstGeom prst="line">
            <a:avLst/>
          </a:prstGeom>
          <a:ln w="12700">
            <a:solidFill>
              <a:srgbClr val="9890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876800" y="5486400"/>
            <a:ext cx="673100" cy="0"/>
          </a:xfrm>
          <a:prstGeom prst="line">
            <a:avLst/>
          </a:prstGeom>
          <a:ln w="12700">
            <a:solidFill>
              <a:srgbClr val="9890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616700" y="2438400"/>
            <a:ext cx="698500" cy="0"/>
          </a:xfrm>
          <a:prstGeom prst="line">
            <a:avLst/>
          </a:prstGeom>
          <a:ln w="12700">
            <a:solidFill>
              <a:srgbClr val="9890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035800" y="3962400"/>
            <a:ext cx="279400" cy="0"/>
          </a:xfrm>
          <a:prstGeom prst="line">
            <a:avLst/>
          </a:prstGeom>
          <a:ln w="12700">
            <a:solidFill>
              <a:srgbClr val="9890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616700" y="5486400"/>
            <a:ext cx="698500" cy="0"/>
          </a:xfrm>
          <a:prstGeom prst="line">
            <a:avLst/>
          </a:prstGeom>
          <a:ln w="12700">
            <a:solidFill>
              <a:srgbClr val="9890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 advClick="1">
    <p:fade/>
  </p:transition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38200" y="660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400" kern="0">
                <a:solidFill>
                  <a:srgbClr val="C2481D"/>
                </a:solidFill>
                <a:latin typeface="Liter"/>
                <a:ea typeface="MiSans"/>
              </a:rPr>
              <a:t>03 · 实证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838200" y="965200"/>
            <a:ext cx="10515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1F1C17"/>
                </a:solidFill>
                <a:latin typeface="得意黑"/>
                <a:ea typeface="得意黑"/>
              </a:rPr>
              <a:t>3 人起步、5 个月，写出约 100 万行代码</a:t>
            </a:r>
            <a:endParaRPr lang="en-US" sz="3000" noProof="1"/>
          </a:p>
        </p:txBody>
      </p:sp>
      <p:sp>
        <p:nvSpPr>
          <p:cNvPr id="4" name="title-rule"/>
          <p:cNvSpPr/>
          <p:nvPr/>
        </p:nvSpPr>
        <p:spPr>
          <a:xfrm>
            <a:off x="838200" y="1625600"/>
            <a:ext cx="105156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</p:sp>
      <p:sp>
        <p:nvSpPr>
          <p:cNvPr id="5" name="hero-num"/>
          <p:cNvSpPr txBox="1"/>
          <p:nvPr/>
        </p:nvSpPr>
        <p:spPr>
          <a:xfrm>
            <a:off x="838200" y="213360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800" noProof="1">
                <a:solidFill>
                  <a:srgbClr val="C2481D"/>
                </a:solidFill>
                <a:latin typeface="得意黑"/>
                <a:ea typeface="得意黑"/>
              </a:rPr>
              <a:t>~1,000,000</a:t>
            </a:r>
            <a:r>
              <a:rPr lang="en-US" sz="2400" noProof="1">
                <a:solidFill>
                  <a:srgbClr val="1F1C17"/>
                </a:solidFill>
                <a:latin typeface="得意黑"/>
                <a:ea typeface="得意黑"/>
              </a:rPr>
              <a:t>　行代码</a:t>
            </a:r>
            <a:endParaRPr lang="en-US" sz="8800" noProof="1"/>
          </a:p>
        </p:txBody>
      </p:sp>
      <p:sp>
        <p:nvSpPr>
          <p:cNvPr id="6" name="hero-note"/>
          <p:cNvSpPr txBox="1"/>
          <p:nvPr/>
        </p:nvSpPr>
        <p:spPr>
          <a:xfrm>
            <a:off x="838200" y="3606800"/>
            <a:ext cx="10515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75B"/>
                </a:solidFill>
                <a:latin typeface="Liter"/>
                <a:ea typeface="MiSans"/>
              </a:rPr>
              <a:t>一个内部大型项目，几乎全部由智能体在约束系统之内产出</a:t>
            </a:r>
            <a:endParaRPr lang="en-US" sz="1200" noProof="1"/>
          </a:p>
        </p:txBody>
      </p:sp>
      <p:sp>
        <p:nvSpPr>
          <p:cNvPr id="7" name="sub-rule"/>
          <p:cNvSpPr/>
          <p:nvPr/>
        </p:nvSpPr>
        <p:spPr>
          <a:xfrm>
            <a:off x="838200" y="4191000"/>
            <a:ext cx="105156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</p:sp>
      <p:sp>
        <p:nvSpPr>
          <p:cNvPr id="8" name="s1-num"/>
          <p:cNvSpPr txBox="1"/>
          <p:nvPr/>
        </p:nvSpPr>
        <p:spPr>
          <a:xfrm>
            <a:off x="838200" y="4470400"/>
            <a:ext cx="165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>
                <a:solidFill>
                  <a:srgbClr val="1F1C17"/>
                </a:solidFill>
                <a:latin typeface="得意黑"/>
                <a:ea typeface="得意黑"/>
              </a:rPr>
              <a:t>3 → 7</a:t>
            </a:r>
            <a:endParaRPr lang="en-US" sz="3400" noProof="1"/>
          </a:p>
        </p:txBody>
      </p:sp>
      <p:sp>
        <p:nvSpPr>
          <p:cNvPr id="9" name="s1-label"/>
          <p:cNvSpPr txBox="1"/>
          <p:nvPr/>
        </p:nvSpPr>
        <p:spPr>
          <a:xfrm>
            <a:off x="838200" y="5080000"/>
            <a:ext cx="1651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75B"/>
                </a:solidFill>
                <a:latin typeface="Liter"/>
                <a:ea typeface="MiSans"/>
              </a:rPr>
              <a:t>团队规模（人）</a:t>
            </a:r>
            <a:endParaRPr lang="en-US" sz="1150" noProof="1"/>
          </a:p>
        </p:txBody>
      </p:sp>
      <p:sp>
        <p:nvSpPr>
          <p:cNvPr id="10" name="s2-num"/>
          <p:cNvSpPr txBox="1"/>
          <p:nvPr/>
        </p:nvSpPr>
        <p:spPr>
          <a:xfrm>
            <a:off x="2667000" y="4470400"/>
            <a:ext cx="152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>
                <a:solidFill>
                  <a:srgbClr val="1F1C17"/>
                </a:solidFill>
                <a:latin typeface="得意黑"/>
                <a:ea typeface="得意黑"/>
              </a:rPr>
              <a:t>5</a:t>
            </a:r>
            <a:endParaRPr lang="en-US" sz="3400" noProof="1"/>
          </a:p>
        </p:txBody>
      </p:sp>
      <p:sp>
        <p:nvSpPr>
          <p:cNvPr id="11" name="s2-label"/>
          <p:cNvSpPr txBox="1"/>
          <p:nvPr/>
        </p:nvSpPr>
        <p:spPr>
          <a:xfrm>
            <a:off x="2667000" y="50800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75B"/>
                </a:solidFill>
                <a:latin typeface="Liter"/>
                <a:ea typeface="MiSans"/>
              </a:rPr>
              <a:t>个月时间跨度</a:t>
            </a:r>
            <a:endParaRPr lang="en-US" sz="1150" noProof="1"/>
          </a:p>
        </p:txBody>
      </p:sp>
      <p:sp>
        <p:nvSpPr>
          <p:cNvPr id="12" name="s3-num"/>
          <p:cNvSpPr txBox="1"/>
          <p:nvPr/>
        </p:nvSpPr>
        <p:spPr>
          <a:xfrm>
            <a:off x="4419600" y="4470400"/>
            <a:ext cx="177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>
                <a:solidFill>
                  <a:srgbClr val="1F1C17"/>
                </a:solidFill>
                <a:latin typeface="得意黑"/>
                <a:ea typeface="得意黑"/>
              </a:rPr>
              <a:t>~1,500</a:t>
            </a:r>
            <a:endParaRPr lang="en-US" sz="3400" noProof="1"/>
          </a:p>
        </p:txBody>
      </p:sp>
      <p:sp>
        <p:nvSpPr>
          <p:cNvPr id="13" name="s3-label"/>
          <p:cNvSpPr txBox="1"/>
          <p:nvPr/>
        </p:nvSpPr>
        <p:spPr>
          <a:xfrm>
            <a:off x="4419600" y="5080000"/>
            <a:ext cx="177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75B"/>
                </a:solidFill>
                <a:latin typeface="Liter"/>
                <a:ea typeface="MiSans"/>
              </a:rPr>
              <a:t>合并的 PR</a:t>
            </a:r>
            <a:endParaRPr lang="en-US" sz="1150" noProof="1"/>
          </a:p>
        </p:txBody>
      </p:sp>
      <p:sp>
        <p:nvSpPr>
          <p:cNvPr id="14" name="s4-num"/>
          <p:cNvSpPr txBox="1"/>
          <p:nvPr/>
        </p:nvSpPr>
        <p:spPr>
          <a:xfrm>
            <a:off x="6451600" y="4470400"/>
            <a:ext cx="152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>
                <a:solidFill>
                  <a:srgbClr val="1F1C17"/>
                </a:solidFill>
                <a:latin typeface="得意黑"/>
                <a:ea typeface="得意黑"/>
              </a:rPr>
              <a:t>3.5</a:t>
            </a:r>
            <a:endParaRPr lang="en-US" sz="3400" noProof="1"/>
          </a:p>
        </p:txBody>
      </p:sp>
      <p:sp>
        <p:nvSpPr>
          <p:cNvPr id="15" name="s4-label"/>
          <p:cNvSpPr txBox="1"/>
          <p:nvPr/>
        </p:nvSpPr>
        <p:spPr>
          <a:xfrm>
            <a:off x="6451600" y="50800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75B"/>
                </a:solidFill>
                <a:latin typeface="Liter"/>
                <a:ea typeface="MiSans"/>
              </a:rPr>
              <a:t>人均日 PR</a:t>
            </a:r>
            <a:endParaRPr lang="en-US" sz="1150" noProof="1"/>
          </a:p>
        </p:txBody>
      </p:sp>
      <p:sp>
        <p:nvSpPr>
          <p:cNvPr id="16" name="s5-num"/>
          <p:cNvSpPr txBox="1"/>
          <p:nvPr/>
        </p:nvSpPr>
        <p:spPr>
          <a:xfrm>
            <a:off x="8204200" y="4470400"/>
            <a:ext cx="152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>
                <a:solidFill>
                  <a:srgbClr val="1F1C17"/>
                </a:solidFill>
                <a:latin typeface="得意黑"/>
                <a:ea typeface="得意黑"/>
              </a:rPr>
              <a:t>6+</a:t>
            </a:r>
            <a:endParaRPr lang="en-US" sz="3400" noProof="1"/>
          </a:p>
        </p:txBody>
      </p:sp>
      <p:sp>
        <p:nvSpPr>
          <p:cNvPr id="17" name="s5-label"/>
          <p:cNvSpPr txBox="1"/>
          <p:nvPr/>
        </p:nvSpPr>
        <p:spPr>
          <a:xfrm>
            <a:off x="8204200" y="50800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75B"/>
                </a:solidFill>
                <a:latin typeface="Liter"/>
                <a:ea typeface="MiSans"/>
              </a:rPr>
              <a:t>小时单次运行</a:t>
            </a:r>
            <a:endParaRPr lang="en-US" sz="1150" noProof="1"/>
          </a:p>
        </p:txBody>
      </p:sp>
      <p:sp>
        <p:nvSpPr>
          <p:cNvPr id="18" name="s6-num"/>
          <p:cNvSpPr txBox="1"/>
          <p:nvPr/>
        </p:nvSpPr>
        <p:spPr>
          <a:xfrm>
            <a:off x="9956800" y="4470400"/>
            <a:ext cx="1397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>
                <a:solidFill>
                  <a:srgbClr val="C2481D"/>
                </a:solidFill>
                <a:latin typeface="得意黑"/>
                <a:ea typeface="得意黑"/>
              </a:rPr>
              <a:t>1/10</a:t>
            </a:r>
            <a:endParaRPr lang="en-US" sz="3400" noProof="1"/>
          </a:p>
        </p:txBody>
      </p:sp>
      <p:sp>
        <p:nvSpPr>
          <p:cNvPr id="19" name="s6-label"/>
          <p:cNvSpPr txBox="1"/>
          <p:nvPr/>
        </p:nvSpPr>
        <p:spPr>
          <a:xfrm>
            <a:off x="9956800" y="50800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75B"/>
                </a:solidFill>
                <a:latin typeface="Liter"/>
                <a:ea typeface="MiSans"/>
              </a:rPr>
              <a:t>对比手工耗时</a:t>
            </a:r>
            <a:endParaRPr lang="en-US" sz="1150" noProof="1"/>
          </a:p>
        </p:txBody>
      </p:sp>
      <p:sp>
        <p:nvSpPr>
          <p:cNvPr id="20" name="source"/>
          <p:cNvSpPr txBox="1"/>
          <p:nvPr/>
        </p:nvSpPr>
        <p:spPr>
          <a:xfrm>
            <a:off x="838200" y="5867400"/>
            <a:ext cx="105156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98907F"/>
                </a:solidFill>
                <a:latin typeface="Liter"/>
                <a:ea typeface="MiSans"/>
              </a:rPr>
              <a:t>数据：OpenAI 团队 2026-02 披露的内部实践；长时运行常发生在人类睡眠时段。来源：</a:t>
            </a:r>
            <a:r>
              <a:rPr lang="en-US" sz="1100" noProof="1" u="sng">
                <a:solidFill>
                  <a:srgbClr val="0563C1"/>
                </a:solidFill>
                <a:latin typeface="Liter"/>
                <a:ea typeface="MiSans"/>
                <a:hlinkClick r:id="rId3"/>
              </a:rPr>
              <a:t>openai.com/zh-Hans-CN/index/harness-engineering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98907F"/>
                </a:solidFill>
                <a:latin typeface="Liter"/>
                <a:ea typeface="MiSans"/>
              </a:rPr>
              <a:t>逐项拆解与出处对照见仓库 references/articles.md 第 1 条。</a:t>
            </a:r>
            <a:endParaRPr lang="en-US" sz="1100" noProof="1"/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38200" y="660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400" kern="0">
                <a:solidFill>
                  <a:srgbClr val="C2481D"/>
                </a:solidFill>
                <a:latin typeface="Liter"/>
                <a:ea typeface="MiSans"/>
              </a:rPr>
              <a:t>04 · 方法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838200" y="965200"/>
            <a:ext cx="10515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1F1C17"/>
                </a:solidFill>
                <a:latin typeface="得意黑"/>
                <a:ea typeface="得意黑"/>
              </a:rPr>
              <a:t>学习本身，也走一条反馈回路</a:t>
            </a:r>
            <a:endParaRPr lang="en-US" sz="3000" noProof="1"/>
          </a:p>
        </p:txBody>
      </p:sp>
      <p:sp>
        <p:nvSpPr>
          <p:cNvPr id="4" name="title-rule"/>
          <p:cNvSpPr/>
          <p:nvPr/>
        </p:nvSpPr>
        <p:spPr>
          <a:xfrm>
            <a:off x="838200" y="1625600"/>
            <a:ext cx="105156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</p:sp>
      <p:sp>
        <p:nvSpPr>
          <p:cNvPr id="5" name="p1-tag"/>
          <p:cNvSpPr txBox="1"/>
          <p:nvPr/>
        </p:nvSpPr>
        <p:spPr>
          <a:xfrm>
            <a:off x="838200" y="2057400"/>
            <a:ext cx="1676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100" kern="0">
                <a:solidFill>
                  <a:srgbClr val="C2481D"/>
                </a:solidFill>
                <a:latin typeface="Liter"/>
                <a:ea typeface="Liter"/>
              </a:rPr>
              <a:t>PHASE 1</a:t>
            </a:r>
            <a:endParaRPr lang="en-US" sz="1100" noProof="1"/>
          </a:p>
        </p:txBody>
      </p:sp>
      <p:sp>
        <p:nvSpPr>
          <p:cNvPr id="6" name="p1-name"/>
          <p:cNvSpPr txBox="1"/>
          <p:nvPr/>
        </p:nvSpPr>
        <p:spPr>
          <a:xfrm>
            <a:off x="838200" y="2286000"/>
            <a:ext cx="1676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1F1C17"/>
                </a:solidFill>
                <a:latin typeface="得意黑"/>
                <a:ea typeface="得意黑"/>
              </a:rPr>
              <a:t>概念</a:t>
            </a:r>
            <a:endParaRPr lang="en-US" sz="1800" noProof="1"/>
          </a:p>
        </p:txBody>
      </p:sp>
      <p:sp>
        <p:nvSpPr>
          <p:cNvPr id="7" name="p1-count"/>
          <p:cNvSpPr txBox="1"/>
          <p:nvPr/>
        </p:nvSpPr>
        <p:spPr>
          <a:xfrm>
            <a:off x="838200" y="2667000"/>
            <a:ext cx="1676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E675B"/>
                </a:solidFill>
                <a:latin typeface="Liter"/>
                <a:ea typeface="MiSans"/>
              </a:rPr>
              <a:t>concepts/ · 8 篇</a:t>
            </a:r>
            <a:endParaRPr lang="en-US" sz="1100" noProof="1"/>
          </a:p>
        </p:txBody>
      </p:sp>
      <p:sp>
        <p:nvSpPr>
          <p:cNvPr id="8" name="a1"/>
          <p:cNvSpPr/>
          <p:nvPr>
            <p:extLst>
              <p:ext uri="{F5677B7D-0D2A-4D9B-9A5C-6D8D7D0E5A5D}">
                <pptd:line encoding="base64url">eyJ2aWV3Qm94IjpbMzAsMTJdLCJwb2ludHMiOiIwLDYgMzAsNiJ9</pptd:line>
              </p:ext>
            </p:extLst>
          </p:nvPr>
        </p:nvSpPr>
        <p:spPr>
          <a:xfrm>
            <a:off x="2540000" y="2387600"/>
            <a:ext cx="381000" cy="152400"/>
          </a:xfrm>
          <a:custGeom>
            <a:avLst/>
            <a:gdLst/>
            <a:ahLst/>
            <a:cxnLst/>
            <a:rect l="l" t="t" r="r" b="b"/>
            <a:pathLst>
              <a:path w="30" h="12">
                <a:moveTo>
                  <a:pt x="0" y="6"/>
                </a:moveTo>
                <a:lnTo>
                  <a:pt x="30" y="6"/>
                </a:lnTo>
              </a:path>
            </a:pathLst>
          </a:custGeom>
          <a:noFill/>
          <a:ln w="19050" cap="rnd">
            <a:solidFill>
              <a:srgbClr val="1F1C17"/>
            </a:solidFill>
            <a:round/>
            <a:tailEnd type="stealth"/>
          </a:ln>
        </p:spPr>
      </p:sp>
      <p:sp>
        <p:nvSpPr>
          <p:cNvPr id="9" name="p2-tag"/>
          <p:cNvSpPr txBox="1"/>
          <p:nvPr/>
        </p:nvSpPr>
        <p:spPr>
          <a:xfrm>
            <a:off x="3022600" y="2057400"/>
            <a:ext cx="1676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100" kern="0">
                <a:solidFill>
                  <a:srgbClr val="C2481D"/>
                </a:solidFill>
                <a:latin typeface="Liter"/>
                <a:ea typeface="Liter"/>
              </a:rPr>
              <a:t>PHASE 2</a:t>
            </a:r>
            <a:endParaRPr lang="en-US" sz="1100" noProof="1"/>
          </a:p>
        </p:txBody>
      </p:sp>
      <p:sp>
        <p:nvSpPr>
          <p:cNvPr id="10" name="p2-name"/>
          <p:cNvSpPr txBox="1"/>
          <p:nvPr/>
        </p:nvSpPr>
        <p:spPr>
          <a:xfrm>
            <a:off x="3022600" y="2286000"/>
            <a:ext cx="1676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1F1C17"/>
                </a:solidFill>
                <a:latin typeface="得意黑"/>
                <a:ea typeface="得意黑"/>
              </a:rPr>
              <a:t>思考</a:t>
            </a:r>
            <a:endParaRPr lang="en-US" sz="1800" noProof="1"/>
          </a:p>
        </p:txBody>
      </p:sp>
      <p:sp>
        <p:nvSpPr>
          <p:cNvPr id="11" name="p2-count"/>
          <p:cNvSpPr txBox="1"/>
          <p:nvPr/>
        </p:nvSpPr>
        <p:spPr>
          <a:xfrm>
            <a:off x="3022600" y="2667000"/>
            <a:ext cx="1676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E675B"/>
                </a:solidFill>
                <a:latin typeface="Liter"/>
                <a:ea typeface="MiSans"/>
              </a:rPr>
              <a:t>thinking/ · 11 篇</a:t>
            </a:r>
            <a:endParaRPr lang="en-US" sz="1100" noProof="1"/>
          </a:p>
        </p:txBody>
      </p:sp>
      <p:sp>
        <p:nvSpPr>
          <p:cNvPr id="12" name="a2"/>
          <p:cNvSpPr/>
          <p:nvPr>
            <p:extLst>
              <p:ext uri="{F5677B7D-0D2A-4D9B-9A5C-6D8D7D0E5A5D}">
                <pptd:line encoding="base64url">eyJ2aWV3Qm94IjpbMzAsMTJdLCJwb2ludHMiOiIwLDYgMzAsNiJ9</pptd:line>
              </p:ext>
            </p:extLst>
          </p:nvPr>
        </p:nvSpPr>
        <p:spPr>
          <a:xfrm>
            <a:off x="4724400" y="2387600"/>
            <a:ext cx="381000" cy="152400"/>
          </a:xfrm>
          <a:custGeom>
            <a:avLst/>
            <a:gdLst/>
            <a:ahLst/>
            <a:cxnLst/>
            <a:rect l="l" t="t" r="r" b="b"/>
            <a:pathLst>
              <a:path w="30" h="12">
                <a:moveTo>
                  <a:pt x="0" y="6"/>
                </a:moveTo>
                <a:lnTo>
                  <a:pt x="30" y="6"/>
                </a:lnTo>
              </a:path>
            </a:pathLst>
          </a:custGeom>
          <a:noFill/>
          <a:ln w="19050" cap="rnd">
            <a:solidFill>
              <a:srgbClr val="1F1C17"/>
            </a:solidFill>
            <a:round/>
            <a:tailEnd type="stealth"/>
          </a:ln>
        </p:spPr>
      </p:sp>
      <p:sp>
        <p:nvSpPr>
          <p:cNvPr id="13" name="p3-tag"/>
          <p:cNvSpPr txBox="1"/>
          <p:nvPr/>
        </p:nvSpPr>
        <p:spPr>
          <a:xfrm>
            <a:off x="5207000" y="2057400"/>
            <a:ext cx="1676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100" kern="0">
                <a:solidFill>
                  <a:srgbClr val="C2481D"/>
                </a:solidFill>
                <a:latin typeface="Liter"/>
                <a:ea typeface="Liter"/>
              </a:rPr>
              <a:t>PHASE 3</a:t>
            </a:r>
            <a:endParaRPr lang="en-US" sz="1100" noProof="1"/>
          </a:p>
        </p:txBody>
      </p:sp>
      <p:sp>
        <p:nvSpPr>
          <p:cNvPr id="14" name="p3-name"/>
          <p:cNvSpPr txBox="1"/>
          <p:nvPr/>
        </p:nvSpPr>
        <p:spPr>
          <a:xfrm>
            <a:off x="5207000" y="2286000"/>
            <a:ext cx="1676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1F1C17"/>
                </a:solidFill>
                <a:latin typeface="得意黑"/>
                <a:ea typeface="得意黑"/>
              </a:rPr>
              <a:t>实践</a:t>
            </a:r>
            <a:endParaRPr lang="en-US" sz="1800" noProof="1"/>
          </a:p>
        </p:txBody>
      </p:sp>
      <p:sp>
        <p:nvSpPr>
          <p:cNvPr id="15" name="p3-count"/>
          <p:cNvSpPr txBox="1"/>
          <p:nvPr/>
        </p:nvSpPr>
        <p:spPr>
          <a:xfrm>
            <a:off x="5207000" y="2667000"/>
            <a:ext cx="1676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E675B"/>
                </a:solidFill>
                <a:latin typeface="Liter"/>
                <a:ea typeface="MiSans"/>
              </a:rPr>
              <a:t>practice/ · Ralph Demo</a:t>
            </a:r>
            <a:endParaRPr lang="en-US" sz="1100" noProof="1"/>
          </a:p>
        </p:txBody>
      </p:sp>
      <p:sp>
        <p:nvSpPr>
          <p:cNvPr id="16" name="a3"/>
          <p:cNvSpPr/>
          <p:nvPr>
            <p:extLst>
              <p:ext uri="{F5677B7D-0D2A-4D9B-9A5C-6D8D7D0E5A5D}">
                <pptd:line encoding="base64url">eyJ2aWV3Qm94IjpbMzAsMTJdLCJwb2ludHMiOiIwLDYgMzAsNiJ9</pptd:line>
              </p:ext>
            </p:extLst>
          </p:nvPr>
        </p:nvSpPr>
        <p:spPr>
          <a:xfrm>
            <a:off x="6908800" y="2387600"/>
            <a:ext cx="381000" cy="152400"/>
          </a:xfrm>
          <a:custGeom>
            <a:avLst/>
            <a:gdLst/>
            <a:ahLst/>
            <a:cxnLst/>
            <a:rect l="l" t="t" r="r" b="b"/>
            <a:pathLst>
              <a:path w="30" h="12">
                <a:moveTo>
                  <a:pt x="0" y="6"/>
                </a:moveTo>
                <a:lnTo>
                  <a:pt x="30" y="6"/>
                </a:lnTo>
              </a:path>
            </a:pathLst>
          </a:custGeom>
          <a:noFill/>
          <a:ln w="19050" cap="rnd">
            <a:solidFill>
              <a:srgbClr val="1F1C17"/>
            </a:solidFill>
            <a:round/>
            <a:tailEnd type="stealth"/>
          </a:ln>
        </p:spPr>
      </p:sp>
      <p:sp>
        <p:nvSpPr>
          <p:cNvPr id="17" name="p4-tag"/>
          <p:cNvSpPr txBox="1"/>
          <p:nvPr/>
        </p:nvSpPr>
        <p:spPr>
          <a:xfrm>
            <a:off x="7391400" y="2057400"/>
            <a:ext cx="1676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100" kern="0">
                <a:solidFill>
                  <a:srgbClr val="C2481D"/>
                </a:solidFill>
                <a:latin typeface="Liter"/>
                <a:ea typeface="Liter"/>
              </a:rPr>
              <a:t>PHASE 4</a:t>
            </a:r>
            <a:endParaRPr lang="en-US" sz="1100" noProof="1"/>
          </a:p>
        </p:txBody>
      </p:sp>
      <p:sp>
        <p:nvSpPr>
          <p:cNvPr id="18" name="p4-name"/>
          <p:cNvSpPr txBox="1"/>
          <p:nvPr/>
        </p:nvSpPr>
        <p:spPr>
          <a:xfrm>
            <a:off x="7391400" y="2286000"/>
            <a:ext cx="1676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1F1C17"/>
                </a:solidFill>
                <a:latin typeface="得意黑"/>
                <a:ea typeface="得意黑"/>
              </a:rPr>
              <a:t>反馈</a:t>
            </a:r>
            <a:endParaRPr lang="en-US" sz="1800" noProof="1"/>
          </a:p>
        </p:txBody>
      </p:sp>
      <p:sp>
        <p:nvSpPr>
          <p:cNvPr id="19" name="p4-count"/>
          <p:cNvSpPr txBox="1"/>
          <p:nvPr/>
        </p:nvSpPr>
        <p:spPr>
          <a:xfrm>
            <a:off x="7391400" y="2667000"/>
            <a:ext cx="1676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E675B"/>
                </a:solidFill>
                <a:latin typeface="Liter"/>
                <a:ea typeface="MiSans"/>
              </a:rPr>
              <a:t>feedback/ · 踩坑与修正</a:t>
            </a:r>
            <a:endParaRPr lang="en-US" sz="1100" noProof="1"/>
          </a:p>
        </p:txBody>
      </p:sp>
      <p:sp>
        <p:nvSpPr>
          <p:cNvPr id="20" name="a4"/>
          <p:cNvSpPr/>
          <p:nvPr>
            <p:extLst>
              <p:ext uri="{F5677B7D-0D2A-4D9B-9A5C-6D8D7D0E5A5D}">
                <pptd:line encoding="base64url">eyJ2aWV3Qm94IjpbMzAsMTJdLCJwb2ludHMiOiIwLDYgMzAsNiJ9</pptd:line>
              </p:ext>
            </p:extLst>
          </p:nvPr>
        </p:nvSpPr>
        <p:spPr>
          <a:xfrm>
            <a:off x="9093200" y="2387600"/>
            <a:ext cx="381000" cy="152400"/>
          </a:xfrm>
          <a:custGeom>
            <a:avLst/>
            <a:gdLst/>
            <a:ahLst/>
            <a:cxnLst/>
            <a:rect l="l" t="t" r="r" b="b"/>
            <a:pathLst>
              <a:path w="30" h="12">
                <a:moveTo>
                  <a:pt x="0" y="6"/>
                </a:moveTo>
                <a:lnTo>
                  <a:pt x="30" y="6"/>
                </a:lnTo>
              </a:path>
            </a:pathLst>
          </a:custGeom>
          <a:noFill/>
          <a:ln w="19050" cap="rnd">
            <a:solidFill>
              <a:srgbClr val="1F1C17"/>
            </a:solidFill>
            <a:round/>
            <a:tailEnd type="stealth"/>
          </a:ln>
        </p:spPr>
      </p:sp>
      <p:sp>
        <p:nvSpPr>
          <p:cNvPr id="21" name="p5-tag"/>
          <p:cNvSpPr txBox="1"/>
          <p:nvPr/>
        </p:nvSpPr>
        <p:spPr>
          <a:xfrm>
            <a:off x="9575800" y="2057400"/>
            <a:ext cx="1778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100" kern="0">
                <a:solidFill>
                  <a:srgbClr val="C2481D"/>
                </a:solidFill>
                <a:latin typeface="Liter"/>
                <a:ea typeface="Liter"/>
              </a:rPr>
              <a:t>PHASE 5</a:t>
            </a:r>
            <a:endParaRPr lang="en-US" sz="1100" noProof="1"/>
          </a:p>
        </p:txBody>
      </p:sp>
      <p:sp>
        <p:nvSpPr>
          <p:cNvPr id="22" name="p5-name"/>
          <p:cNvSpPr txBox="1"/>
          <p:nvPr/>
        </p:nvSpPr>
        <p:spPr>
          <a:xfrm>
            <a:off x="9575800" y="2286000"/>
            <a:ext cx="177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1F1C17"/>
                </a:solidFill>
                <a:latin typeface="得意黑"/>
                <a:ea typeface="得意黑"/>
              </a:rPr>
              <a:t>作品</a:t>
            </a:r>
            <a:endParaRPr lang="en-US" sz="1800" noProof="1"/>
          </a:p>
        </p:txBody>
      </p:sp>
      <p:sp>
        <p:nvSpPr>
          <p:cNvPr id="23" name="p5-count"/>
          <p:cNvSpPr txBox="1"/>
          <p:nvPr/>
        </p:nvSpPr>
        <p:spPr>
          <a:xfrm>
            <a:off x="9575800" y="2667000"/>
            <a:ext cx="1778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E675B"/>
                </a:solidFill>
                <a:latin typeface="Liter"/>
                <a:ea typeface="MiSans"/>
              </a:rPr>
              <a:t>works/ · 34 译 + 1 原创</a:t>
            </a:r>
            <a:endParaRPr lang="en-US" sz="1100" noProof="1"/>
          </a:p>
        </p:txBody>
      </p:sp>
      <p:sp>
        <p:nvSpPr>
          <p:cNvPr id="24" name="return-loop"/>
          <p:cNvSpPr/>
          <p:nvPr>
            <p:extLst>
              <p:ext uri="{F5677B7D-0D2A-4D9B-9A5C-6D8D7D0E5A5D}">
                <pptd:line encoding="base64url">eyJ2aWV3Qm94IjpbNzAwLDYyXSwicG9pbnRzIjoiNjkwLDAgNjQwLDUyIDgwLDUyIDgsMTQiLCJjdXJ2ZSI6InNtb290aCJ9</pptd:line>
              </p:ext>
            </p:extLst>
          </p:nvPr>
        </p:nvSpPr>
        <p:spPr>
          <a:xfrm>
            <a:off x="1651000" y="3022600"/>
            <a:ext cx="8890000" cy="787400"/>
          </a:xfrm>
          <a:custGeom>
            <a:avLst/>
            <a:gdLst/>
            <a:ahLst/>
            <a:cxnLst/>
            <a:rect l="l" t="t" r="r" b="b"/>
            <a:pathLst>
              <a:path w="700" h="62">
                <a:moveTo>
                  <a:pt x="690" y="0"/>
                </a:moveTo>
                <a:cubicBezTo>
                  <a:pt x="640" y="52"/>
                  <a:pt x="80" y="52"/>
                  <a:pt x="8" y="14"/>
                </a:cubicBezTo>
              </a:path>
            </a:pathLst>
          </a:custGeom>
          <a:noFill/>
          <a:ln w="19050" cap="rnd">
            <a:solidFill>
              <a:srgbClr val="C2481D"/>
            </a:solidFill>
            <a:round/>
            <a:tailEnd type="stealth"/>
          </a:ln>
        </p:spPr>
      </p:sp>
      <p:sp>
        <p:nvSpPr>
          <p:cNvPr id="25" name="return-label"/>
          <p:cNvSpPr txBox="1"/>
          <p:nvPr/>
        </p:nvSpPr>
        <p:spPr>
          <a:xfrm>
            <a:off x="3556000" y="3835400"/>
            <a:ext cx="508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C2481D"/>
                </a:solidFill>
                <a:latin typeface="Liter"/>
                <a:ea typeface="MiSans"/>
              </a:rPr>
              <a:t>外部读者的评论、转发与质疑，回流 thinking/ 与 feedback/ 继续打磨</a:t>
            </a:r>
            <a:endParaRPr lang="en-US" sz="1100" noProof="1"/>
          </a:p>
        </p:txBody>
      </p:sp>
      <p:sp>
        <p:nvSpPr>
          <p:cNvPr id="26" name="demo-rule"/>
          <p:cNvSpPr/>
          <p:nvPr/>
        </p:nvSpPr>
        <p:spPr>
          <a:xfrm>
            <a:off x="838200" y="4368800"/>
            <a:ext cx="105156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</p:sp>
      <p:sp>
        <p:nvSpPr>
          <p:cNvPr id="27" name="demo-head"/>
          <p:cNvSpPr txBox="1"/>
          <p:nvPr/>
        </p:nvSpPr>
        <p:spPr>
          <a:xfrm>
            <a:off x="838200" y="45974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F1C17"/>
                </a:solidFill>
                <a:latin typeface="Liter"/>
                <a:ea typeface="MiSans"/>
              </a:rPr>
              <a:t>实践一例 · Ralph 编排循环</a:t>
            </a:r>
            <a:endParaRPr lang="en-US" sz="1400" noProof="1"/>
          </a:p>
        </p:txBody>
      </p:sp>
      <p:sp>
        <p:nvSpPr>
          <p:cNvPr id="28" name="demo-body"/>
          <p:cNvSpPr txBox="1"/>
          <p:nvPr/>
        </p:nvSpPr>
        <p:spPr>
          <a:xfrm>
            <a:off x="838200" y="4927600"/>
            <a:ext cx="787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6E675B"/>
                </a:solidFill>
                <a:latin typeface="Liter"/>
                <a:ea typeface="MiSans"/>
              </a:rPr>
              <a:t>用 ralph-orchestrator 跑通「帽子系统 + 背压门控 + 持久记忆」：4 轮迭代生成 CLI word counter，7 项测试全绿，产物归档于 practice/01-ralph-demo/ 可复验。</a:t>
            </a:r>
            <a:endParaRPr lang="en-US" sz="1250" noProof="1"/>
          </a:p>
        </p:txBody>
      </p:sp>
      <p:sp>
        <p:nvSpPr>
          <p:cNvPr id="29" name="demo-n1"/>
          <p:cNvSpPr txBox="1"/>
          <p:nvPr/>
        </p:nvSpPr>
        <p:spPr>
          <a:xfrm>
            <a:off x="9017000" y="464820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1F1C17"/>
                </a:solidFill>
                <a:latin typeface="得意黑"/>
                <a:ea typeface="得意黑"/>
              </a:rPr>
              <a:t>321s</a:t>
            </a:r>
            <a:endParaRPr lang="en-US" sz="2600" noProof="1"/>
          </a:p>
        </p:txBody>
      </p:sp>
      <p:sp>
        <p:nvSpPr>
          <p:cNvPr id="30" name="demo-n1-label"/>
          <p:cNvSpPr txBox="1"/>
          <p:nvPr/>
        </p:nvSpPr>
        <p:spPr>
          <a:xfrm>
            <a:off x="9017000" y="513080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98907F"/>
                </a:solidFill>
                <a:latin typeface="Liter"/>
                <a:ea typeface="MiSans"/>
              </a:rPr>
              <a:t>全程耗时</a:t>
            </a:r>
            <a:endParaRPr lang="en-US" sz="1050" noProof="1"/>
          </a:p>
        </p:txBody>
      </p:sp>
      <p:sp>
        <p:nvSpPr>
          <p:cNvPr id="31" name="demo-n2"/>
          <p:cNvSpPr txBox="1"/>
          <p:nvPr/>
        </p:nvSpPr>
        <p:spPr>
          <a:xfrm>
            <a:off x="10312400" y="4648200"/>
            <a:ext cx="1041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C2481D"/>
                </a:solidFill>
                <a:latin typeface="得意黑"/>
                <a:ea typeface="得意黑"/>
              </a:rPr>
              <a:t>$0.31</a:t>
            </a:r>
            <a:endParaRPr lang="en-US" sz="2600" noProof="1"/>
          </a:p>
        </p:txBody>
      </p:sp>
      <p:sp>
        <p:nvSpPr>
          <p:cNvPr id="32" name="demo-n2-label"/>
          <p:cNvSpPr txBox="1"/>
          <p:nvPr/>
        </p:nvSpPr>
        <p:spPr>
          <a:xfrm>
            <a:off x="10312400" y="5130800"/>
            <a:ext cx="1041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98907F"/>
                </a:solidFill>
                <a:latin typeface="Liter"/>
                <a:ea typeface="MiSans"/>
              </a:rPr>
              <a:t>总花费</a:t>
            </a:r>
            <a:endParaRPr lang="en-US" sz="1050" noProof="1"/>
          </a:p>
        </p:txBody>
      </p:sp>
      <p:sp>
        <p:nvSpPr>
          <p:cNvPr id="33" name="foot"/>
          <p:cNvSpPr txBox="1"/>
          <p:nvPr/>
        </p:nvSpPr>
        <p:spPr>
          <a:xfrm>
            <a:off x="838200" y="6045200"/>
            <a:ext cx="10515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98907F"/>
                </a:solidFill>
                <a:latin typeface="Liter"/>
                <a:ea typeface="MiSans"/>
              </a:rPr>
              <a:t>篇数为 2026-08 快照，最新进度以 README「学习路线」为准。</a:t>
            </a:r>
            <a:endParaRPr lang="en-US" sz="1100" noProof="1"/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38200" y="660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400" kern="0">
                <a:solidFill>
                  <a:srgbClr val="C2481D"/>
                </a:solidFill>
                <a:latin typeface="Liter"/>
                <a:ea typeface="MiSans"/>
              </a:rPr>
              <a:t>05 · 结构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838200" y="965200"/>
            <a:ext cx="10515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1F1C17"/>
                </a:solidFill>
                <a:latin typeface="得意黑"/>
                <a:ea typeface="得意黑"/>
              </a:rPr>
              <a:t>一张为智能体画的地图，而不是手册</a:t>
            </a:r>
            <a:endParaRPr lang="en-US" sz="3000" noProof="1"/>
          </a:p>
        </p:txBody>
      </p:sp>
      <p:sp>
        <p:nvSpPr>
          <p:cNvPr id="4" name="title-rule"/>
          <p:cNvSpPr/>
          <p:nvPr/>
        </p:nvSpPr>
        <p:spPr>
          <a:xfrm>
            <a:off x="838200" y="1625600"/>
            <a:ext cx="105156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</p:sp>
      <p:sp>
        <p:nvSpPr>
          <p:cNvPr id="5" name="tree-names"/>
          <p:cNvSpPr txBox="1"/>
          <p:nvPr/>
        </p:nvSpPr>
        <p:spPr>
          <a:xfrm>
            <a:off x="838200" y="1905000"/>
            <a:ext cx="2921000" cy="396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ts val="2800"/>
              </a:lnSpc>
            </a:pPr>
            <a:r>
              <a:rPr lang="en-US" sz="1300" noProof="1" b="1">
                <a:solidFill>
                  <a:srgbClr val="1F1C17"/>
                </a:solidFill>
                <a:latin typeface="Liter"/>
                <a:ea typeface="MiSans"/>
              </a:rPr>
              <a:t>harness-engineering/</a:t>
            </a:r>
            <a:endParaRPr lang="en-US" sz="1300" noProof="1"/>
          </a:p>
          <a:p>
            <a:pPr>
              <a:lnSpc>
                <a:spcPts val="2800"/>
              </a:lnSpc>
            </a:pPr>
            <a:r>
              <a:rPr lang="en-US" sz="1300" noProof="1">
                <a:solidFill>
                  <a:srgbClr val="1F1C17"/>
                </a:solidFill>
                <a:latin typeface="Liter"/>
                <a:ea typeface="MiSans"/>
              </a:rPr>
              <a:t>├─ README.md</a:t>
            </a:r>
            <a:endParaRPr lang="en-US" sz="1300" noProof="1"/>
          </a:p>
          <a:p>
            <a:pPr>
              <a:lnSpc>
                <a:spcPts val="2800"/>
              </a:lnSpc>
            </a:pPr>
            <a:r>
              <a:rPr lang="en-US" sz="1300" noProof="1" b="1">
                <a:solidFill>
                  <a:srgbClr val="C2481D"/>
                </a:solidFill>
                <a:latin typeface="Liter"/>
                <a:ea typeface="MiSans"/>
              </a:rPr>
              <a:t>├─ AGENTS.md</a:t>
            </a:r>
            <a:endParaRPr lang="en-US" sz="1300" noProof="1"/>
          </a:p>
          <a:p>
            <a:pPr>
              <a:lnSpc>
                <a:spcPts val="2800"/>
              </a:lnSpc>
            </a:pPr>
            <a:r>
              <a:rPr lang="en-US" sz="1300" noProof="1">
                <a:solidFill>
                  <a:srgbClr val="1F1C17"/>
                </a:solidFill>
                <a:latin typeface="Liter"/>
                <a:ea typeface="MiSans"/>
              </a:rPr>
              <a:t>├─ concepts/</a:t>
            </a:r>
            <a:endParaRPr lang="en-US" sz="1300" noProof="1"/>
          </a:p>
          <a:p>
            <a:pPr>
              <a:lnSpc>
                <a:spcPts val="2800"/>
              </a:lnSpc>
            </a:pPr>
            <a:r>
              <a:rPr lang="en-US" sz="1300" noProof="1">
                <a:solidFill>
                  <a:srgbClr val="1F1C17"/>
                </a:solidFill>
                <a:latin typeface="Liter"/>
                <a:ea typeface="MiSans"/>
              </a:rPr>
              <a:t>├─ thinking/</a:t>
            </a:r>
            <a:endParaRPr lang="en-US" sz="1300" noProof="1"/>
          </a:p>
          <a:p>
            <a:pPr>
              <a:lnSpc>
                <a:spcPts val="2800"/>
              </a:lnSpc>
            </a:pPr>
            <a:r>
              <a:rPr lang="en-US" sz="1300" noProof="1">
                <a:solidFill>
                  <a:srgbClr val="1F1C17"/>
                </a:solidFill>
                <a:latin typeface="Liter"/>
                <a:ea typeface="MiSans"/>
              </a:rPr>
              <a:t>├─ practice/</a:t>
            </a:r>
            <a:endParaRPr lang="en-US" sz="1300" noProof="1"/>
          </a:p>
          <a:p>
            <a:pPr>
              <a:lnSpc>
                <a:spcPts val="2800"/>
              </a:lnSpc>
            </a:pPr>
            <a:r>
              <a:rPr lang="en-US" sz="1300" noProof="1">
                <a:solidFill>
                  <a:srgbClr val="1F1C17"/>
                </a:solidFill>
                <a:latin typeface="Liter"/>
                <a:ea typeface="MiSans"/>
              </a:rPr>
              <a:t>├─ feedback/</a:t>
            </a:r>
            <a:endParaRPr lang="en-US" sz="1300" noProof="1"/>
          </a:p>
          <a:p>
            <a:pPr>
              <a:lnSpc>
                <a:spcPts val="2800"/>
              </a:lnSpc>
            </a:pPr>
            <a:r>
              <a:rPr lang="en-US" sz="1300" noProof="1">
                <a:solidFill>
                  <a:srgbClr val="1F1C17"/>
                </a:solidFill>
                <a:latin typeface="Liter"/>
                <a:ea typeface="MiSans"/>
              </a:rPr>
              <a:t>├─ works/</a:t>
            </a:r>
            <a:endParaRPr lang="en-US" sz="1300" noProof="1"/>
          </a:p>
          <a:p>
            <a:pPr>
              <a:lnSpc>
                <a:spcPts val="2800"/>
              </a:lnSpc>
            </a:pPr>
            <a:r>
              <a:rPr lang="en-US" sz="1300" noProof="1">
                <a:solidFill>
                  <a:srgbClr val="1F1C17"/>
                </a:solidFill>
                <a:latin typeface="Liter"/>
                <a:ea typeface="MiSans"/>
              </a:rPr>
              <a:t>├─ tools/ · prompts/</a:t>
            </a:r>
            <a:endParaRPr lang="en-US" sz="1300" noProof="1"/>
          </a:p>
          <a:p>
            <a:pPr>
              <a:lnSpc>
                <a:spcPts val="2800"/>
              </a:lnSpc>
            </a:pPr>
            <a:r>
              <a:rPr lang="en-US" sz="1300" noProof="1">
                <a:solidFill>
                  <a:srgbClr val="1F1C17"/>
                </a:solidFill>
                <a:latin typeface="Liter"/>
                <a:ea typeface="MiSans"/>
              </a:rPr>
              <a:t>├─ references/</a:t>
            </a:r>
            <a:endParaRPr lang="en-US" sz="1300" noProof="1"/>
          </a:p>
          <a:p>
            <a:pPr>
              <a:lnSpc>
                <a:spcPts val="2800"/>
              </a:lnSpc>
            </a:pPr>
            <a:r>
              <a:rPr lang="en-US" sz="1300" noProof="1">
                <a:solidFill>
                  <a:srgbClr val="1F1C17"/>
                </a:solidFill>
                <a:latin typeface="Liter"/>
                <a:ea typeface="MiSans"/>
              </a:rPr>
              <a:t>└─ scripts/</a:t>
            </a:r>
            <a:endParaRPr lang="en-US" sz="1300" noProof="1"/>
          </a:p>
        </p:txBody>
      </p:sp>
      <p:sp>
        <p:nvSpPr>
          <p:cNvPr id="6" name="tree-notes"/>
          <p:cNvSpPr txBox="1"/>
          <p:nvPr/>
        </p:nvSpPr>
        <p:spPr>
          <a:xfrm>
            <a:off x="3962400" y="1905000"/>
            <a:ext cx="3276600" cy="396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ts val="2800"/>
              </a:lnSpc>
            </a:pPr>
            <a:r>
              <a:rPr lang="en-US" sz="1200" noProof="1">
                <a:solidFill>
                  <a:srgbClr val="98907F"/>
                </a:solidFill>
                <a:latin typeface="Liter"/>
                <a:ea typeface="MiSans"/>
              </a:rPr>
              <a:t>（仓库根）</a:t>
            </a:r>
            <a:endParaRPr lang="en-US" sz="1200" noProof="1"/>
          </a:p>
          <a:p>
            <a:pPr>
              <a:lnSpc>
                <a:spcPts val="2800"/>
              </a:lnSpc>
            </a:pPr>
            <a:r>
              <a:rPr lang="en-US" sz="1200" noProof="1">
                <a:solidFill>
                  <a:srgbClr val="6E675B"/>
                </a:solidFill>
                <a:latin typeface="Liter"/>
                <a:ea typeface="MiSans"/>
              </a:rPr>
              <a:t>人类入口 · 学习路线与全景</a:t>
            </a:r>
            <a:endParaRPr lang="en-US" sz="1200" noProof="1"/>
          </a:p>
          <a:p>
            <a:pPr>
              <a:lnSpc>
                <a:spcPts val="2800"/>
              </a:lnSpc>
            </a:pPr>
            <a:r>
              <a:rPr lang="en-US" sz="1200" noProof="1">
                <a:solidFill>
                  <a:srgbClr val="C2481D"/>
                </a:solidFill>
                <a:latin typeface="Liter"/>
                <a:ea typeface="MiSans"/>
              </a:rPr>
              <a:t>智能体入口 · ~100 行的目录页</a:t>
            </a:r>
            <a:endParaRPr lang="en-US" sz="1200" noProof="1"/>
          </a:p>
          <a:p>
            <a:pPr>
              <a:lnSpc>
                <a:spcPts val="2800"/>
              </a:lnSpc>
            </a:pPr>
            <a:r>
              <a:rPr lang="en-US" sz="1200" noProof="1">
                <a:solidFill>
                  <a:srgbClr val="6E675B"/>
                </a:solidFill>
                <a:latin typeface="Liter"/>
                <a:ea typeface="MiSans"/>
              </a:rPr>
              <a:t>概念笔记 · 拆解原文</a:t>
            </a:r>
            <a:endParaRPr lang="en-US" sz="1200" noProof="1"/>
          </a:p>
          <a:p>
            <a:pPr>
              <a:lnSpc>
                <a:spcPts val="2800"/>
              </a:lnSpc>
            </a:pPr>
            <a:r>
              <a:rPr lang="en-US" sz="1200" noProof="1">
                <a:solidFill>
                  <a:srgbClr val="6E675B"/>
                </a:solidFill>
                <a:latin typeface="Liter"/>
                <a:ea typeface="MiSans"/>
              </a:rPr>
              <a:t>独立思考 · 质疑与延伸</a:t>
            </a:r>
            <a:endParaRPr lang="en-US" sz="1200" noProof="1"/>
          </a:p>
          <a:p>
            <a:pPr>
              <a:lnSpc>
                <a:spcPts val="2800"/>
              </a:lnSpc>
            </a:pPr>
            <a:r>
              <a:rPr lang="en-US" sz="1200" noProof="1">
                <a:solidFill>
                  <a:srgbClr val="6E675B"/>
                </a:solidFill>
                <a:latin typeface="Liter"/>
                <a:ea typeface="MiSans"/>
              </a:rPr>
              <a:t>动手实践 · 小项目实验</a:t>
            </a:r>
            <a:endParaRPr lang="en-US" sz="1200" noProof="1"/>
          </a:p>
          <a:p>
            <a:pPr>
              <a:lnSpc>
                <a:spcPts val="2800"/>
              </a:lnSpc>
            </a:pPr>
            <a:r>
              <a:rPr lang="en-US" sz="1200" noProof="1">
                <a:solidFill>
                  <a:srgbClr val="6E675B"/>
                </a:solidFill>
                <a:latin typeface="Liter"/>
                <a:ea typeface="MiSans"/>
              </a:rPr>
              <a:t>反馈记录 · 踩坑与迭代</a:t>
            </a:r>
            <a:endParaRPr lang="en-US" sz="1200" noProof="1"/>
          </a:p>
          <a:p>
            <a:pPr>
              <a:lnSpc>
                <a:spcPts val="2800"/>
              </a:lnSpc>
            </a:pPr>
            <a:r>
              <a:rPr lang="en-US" sz="1200" noProof="1">
                <a:solidFill>
                  <a:srgbClr val="6E675B"/>
                </a:solidFill>
                <a:latin typeface="Liter"/>
                <a:ea typeface="MiSans"/>
              </a:rPr>
              <a:t>作品输出 · 翻译与原创</a:t>
            </a:r>
            <a:endParaRPr lang="en-US" sz="1200" noProof="1"/>
          </a:p>
          <a:p>
            <a:pPr>
              <a:lnSpc>
                <a:spcPts val="2800"/>
              </a:lnSpc>
            </a:pPr>
            <a:r>
              <a:rPr lang="en-US" sz="1200" noProof="1">
                <a:solidFill>
                  <a:srgbClr val="6E675B"/>
                </a:solidFill>
                <a:latin typeface="Liter"/>
                <a:ea typeface="MiSans"/>
              </a:rPr>
              <a:t>工具杠杆库 · 提示词积累</a:t>
            </a:r>
            <a:endParaRPr lang="en-US" sz="1200" noProof="1"/>
          </a:p>
          <a:p>
            <a:pPr>
              <a:lnSpc>
                <a:spcPts val="2800"/>
              </a:lnSpc>
            </a:pPr>
            <a:r>
              <a:rPr lang="en-US" sz="1200" noProof="1">
                <a:solidFill>
                  <a:srgbClr val="6E675B"/>
                </a:solidFill>
                <a:latin typeface="Liter"/>
                <a:ea typeface="MiSans"/>
              </a:rPr>
              <a:t>外部文章的深度摘要索引</a:t>
            </a:r>
            <a:endParaRPr lang="en-US" sz="1200" noProof="1"/>
          </a:p>
          <a:p>
            <a:pPr>
              <a:lnSpc>
                <a:spcPts val="2800"/>
              </a:lnSpc>
            </a:pPr>
            <a:r>
              <a:rPr lang="en-US" sz="1200" noProof="1">
                <a:solidFill>
                  <a:srgbClr val="6E675B"/>
                </a:solidFill>
                <a:latin typeface="Liter"/>
                <a:ea typeface="MiSans"/>
              </a:rPr>
              <a:t>一致性检查（机械护栏）</a:t>
            </a:r>
            <a:endParaRPr lang="en-US" sz="1200" noProof="1"/>
          </a:p>
        </p:txBody>
      </p:sp>
      <p:sp>
        <p:nvSpPr>
          <p:cNvPr id="7" name="right-head"/>
          <p:cNvSpPr txBox="1"/>
          <p:nvPr/>
        </p:nvSpPr>
        <p:spPr>
          <a:xfrm>
            <a:off x="7493000" y="1930400"/>
            <a:ext cx="38608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700" noProof="1" b="1">
                <a:solidFill>
                  <a:srgbClr val="1F1C17"/>
                </a:solidFill>
                <a:latin typeface="得意黑"/>
                <a:ea typeface="得意黑"/>
              </a:rPr>
              <a:t>每个子目录，都有自己的 AGENTS.md</a:t>
            </a:r>
            <a:endParaRPr lang="en-US" sz="1700" noProof="1"/>
          </a:p>
        </p:txBody>
      </p:sp>
      <p:sp>
        <p:nvSpPr>
          <p:cNvPr id="8" name="right-body"/>
          <p:cNvSpPr txBox="1"/>
          <p:nvPr/>
        </p:nvSpPr>
        <p:spPr>
          <a:xfrm>
            <a:off x="7493000" y="2667000"/>
            <a:ext cx="38608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6E675B"/>
                </a:solidFill>
                <a:latin typeface="Liter"/>
                <a:ea typeface="MiSans"/>
              </a:rPr>
              <a:t>说明该目录的用途、组织方式与写作约定——从任何一个目录出发，都能找到下一步该看什么。入口很小，纵深按需展开。</a:t>
            </a:r>
            <a:endParaRPr lang="en-US" sz="1250" noProof="1"/>
          </a:p>
        </p:txBody>
      </p:sp>
      <p:sp>
        <p:nvSpPr>
          <p:cNvPr id="9" name="pd-1"/>
          <p:cNvSpPr txBox="1"/>
          <p:nvPr/>
        </p:nvSpPr>
        <p:spPr>
          <a:xfrm>
            <a:off x="7493000" y="3886200"/>
            <a:ext cx="3860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F1C17"/>
                </a:solidFill>
                <a:latin typeface="Liter"/>
                <a:ea typeface="MiSans"/>
              </a:rPr>
              <a:t>根 AGENTS.md —— 入口</a:t>
            </a:r>
            <a:endParaRPr lang="en-US" sz="1300" noProof="1"/>
          </a:p>
        </p:txBody>
      </p:sp>
      <p:sp>
        <p:nvSpPr>
          <p:cNvPr id="10" name="pd-a1"/>
          <p:cNvSpPr/>
          <p:nvPr>
            <p:extLst>
              <p:ext uri="{F5677B7D-0D2A-4D9B-9A5C-6D8D7D0E5A5D}">
                <pptd:line encoding="base64url">eyJ2aWV3Qm94IjpbMTIsMjJdLCJwb2ludHMiOiI2LDAgNiwyMiJ9</pptd:line>
              </p:ext>
            </p:extLst>
          </p:nvPr>
        </p:nvSpPr>
        <p:spPr>
          <a:xfrm>
            <a:off x="7620000" y="4191000"/>
            <a:ext cx="152400" cy="279400"/>
          </a:xfrm>
          <a:custGeom>
            <a:avLst/>
            <a:gdLst/>
            <a:ahLst/>
            <a:cxnLst/>
            <a:rect l="l" t="t" r="r" b="b"/>
            <a:pathLst>
              <a:path w="12" h="22">
                <a:moveTo>
                  <a:pt x="6" y="0"/>
                </a:moveTo>
                <a:lnTo>
                  <a:pt x="6" y="22"/>
                </a:lnTo>
              </a:path>
            </a:pathLst>
          </a:custGeom>
          <a:noFill/>
          <a:ln w="19050" cap="rnd">
            <a:solidFill>
              <a:srgbClr val="C2481D"/>
            </a:solidFill>
            <a:round/>
            <a:tailEnd type="stealth"/>
          </a:ln>
        </p:spPr>
      </p:sp>
      <p:sp>
        <p:nvSpPr>
          <p:cNvPr id="11" name="pd-2"/>
          <p:cNvSpPr txBox="1"/>
          <p:nvPr/>
        </p:nvSpPr>
        <p:spPr>
          <a:xfrm>
            <a:off x="7493000" y="4521200"/>
            <a:ext cx="3860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F1C17"/>
                </a:solidFill>
                <a:latin typeface="Liter"/>
                <a:ea typeface="MiSans"/>
              </a:rPr>
              <a:t>子目录 AGENTS.md —— 局部约定</a:t>
            </a:r>
            <a:endParaRPr lang="en-US" sz="1300" noProof="1"/>
          </a:p>
        </p:txBody>
      </p:sp>
      <p:sp>
        <p:nvSpPr>
          <p:cNvPr id="12" name="pd-a2"/>
          <p:cNvSpPr/>
          <p:nvPr>
            <p:extLst>
              <p:ext uri="{F5677B7D-0D2A-4D9B-9A5C-6D8D7D0E5A5D}">
                <pptd:line encoding="base64url">eyJ2aWV3Qm94IjpbMTIsMjJdLCJwb2ludHMiOiI2LDAgNiwyMiJ9</pptd:line>
              </p:ext>
            </p:extLst>
          </p:nvPr>
        </p:nvSpPr>
        <p:spPr>
          <a:xfrm>
            <a:off x="7620000" y="4826000"/>
            <a:ext cx="152400" cy="279400"/>
          </a:xfrm>
          <a:custGeom>
            <a:avLst/>
            <a:gdLst/>
            <a:ahLst/>
            <a:cxnLst/>
            <a:rect l="l" t="t" r="r" b="b"/>
            <a:pathLst>
              <a:path w="12" h="22">
                <a:moveTo>
                  <a:pt x="6" y="0"/>
                </a:moveTo>
                <a:lnTo>
                  <a:pt x="6" y="22"/>
                </a:lnTo>
              </a:path>
            </a:pathLst>
          </a:custGeom>
          <a:noFill/>
          <a:ln w="19050" cap="rnd">
            <a:solidFill>
              <a:srgbClr val="C2481D"/>
            </a:solidFill>
            <a:round/>
            <a:tailEnd type="stealth"/>
          </a:ln>
        </p:spPr>
      </p:sp>
      <p:sp>
        <p:nvSpPr>
          <p:cNvPr id="13" name="pd-3"/>
          <p:cNvSpPr txBox="1"/>
          <p:nvPr/>
        </p:nvSpPr>
        <p:spPr>
          <a:xfrm>
            <a:off x="7493000" y="5156200"/>
            <a:ext cx="3860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F1C17"/>
                </a:solidFill>
                <a:latin typeface="Liter"/>
                <a:ea typeface="MiSans"/>
              </a:rPr>
              <a:t>具体文档 —— 纵深</a:t>
            </a:r>
            <a:endParaRPr lang="en-US" sz="1300" noProof="1"/>
          </a:p>
        </p:txBody>
      </p:sp>
      <p:sp>
        <p:nvSpPr>
          <p:cNvPr id="14" name="foot-rule"/>
          <p:cNvSpPr/>
          <p:nvPr/>
        </p:nvSpPr>
        <p:spPr>
          <a:xfrm>
            <a:off x="838200" y="5969000"/>
            <a:ext cx="105156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</p:sp>
      <p:sp>
        <p:nvSpPr>
          <p:cNvPr id="15" name="foot"/>
          <p:cNvSpPr txBox="1"/>
          <p:nvPr/>
        </p:nvSpPr>
        <p:spPr>
          <a:xfrm>
            <a:off x="838200" y="6096000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75B"/>
                </a:solidFill>
                <a:latin typeface="Liter"/>
                <a:ea typeface="MiSans"/>
              </a:rPr>
              <a:t>巨型指令文件的三个死因：挤占上下文 · 无法维护 · 无法机械验证——所以是地图，不是手册。</a:t>
            </a:r>
            <a:endParaRPr lang="en-US" sz="1200" noProof="1"/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38200" y="660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400" kern="0">
                <a:solidFill>
                  <a:srgbClr val="C2481D"/>
                </a:solidFill>
                <a:latin typeface="Liter"/>
                <a:ea typeface="MiSans"/>
              </a:rPr>
              <a:t>06 · 护栏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838200" y="965200"/>
            <a:ext cx="10515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1F1C17"/>
                </a:solidFill>
                <a:latin typeface="得意黑"/>
                <a:ea typeface="得意黑"/>
              </a:rPr>
              <a:t>文档会腐烂，检查不会：13 层一致性守卫</a:t>
            </a:r>
            <a:endParaRPr lang="en-US" sz="3000" noProof="1"/>
          </a:p>
        </p:txBody>
      </p:sp>
      <p:sp>
        <p:nvSpPr>
          <p:cNvPr id="4" name="title-rule"/>
          <p:cNvSpPr/>
          <p:nvPr/>
        </p:nvSpPr>
        <p:spPr>
          <a:xfrm>
            <a:off x="838200" y="1625600"/>
            <a:ext cx="105156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</p:sp>
      <p:sp>
        <p:nvSpPr>
          <p:cNvPr id="5" name="g-commit"/>
          <p:cNvSpPr txBox="1"/>
          <p:nvPr/>
        </p:nvSpPr>
        <p:spPr>
          <a:xfrm>
            <a:off x="838200" y="2260600"/>
            <a:ext cx="1168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1F1C17"/>
                </a:solidFill>
                <a:latin typeface="Liter"/>
                <a:ea typeface="MiSans"/>
              </a:rPr>
              <a:t>git commit</a:t>
            </a:r>
            <a:endParaRPr lang="en-US" sz="1400" noProof="1"/>
          </a:p>
        </p:txBody>
      </p:sp>
      <p:sp>
        <p:nvSpPr>
          <p:cNvPr id="6" name="g-a1"/>
          <p:cNvSpPr/>
          <p:nvPr>
            <p:extLst>
              <p:ext uri="{F5677B7D-0D2A-4D9B-9A5C-6D8D7D0E5A5D}">
                <pptd:line encoding="base64url">eyJ2aWV3Qm94IjpbMzYsMTJdLCJwb2ludHMiOiIwLDYgMzYsNiJ9</pptd:line>
              </p:ext>
            </p:extLst>
          </p:nvPr>
        </p:nvSpPr>
        <p:spPr>
          <a:xfrm>
            <a:off x="2057400" y="2311400"/>
            <a:ext cx="457200" cy="152400"/>
          </a:xfrm>
          <a:custGeom>
            <a:avLst/>
            <a:gdLst/>
            <a:ahLst/>
            <a:cxnLst/>
            <a:rect l="l" t="t" r="r" b="b"/>
            <a:pathLst>
              <a:path w="36" h="12">
                <a:moveTo>
                  <a:pt x="0" y="6"/>
                </a:moveTo>
                <a:lnTo>
                  <a:pt x="36" y="6"/>
                </a:lnTo>
              </a:path>
            </a:pathLst>
          </a:custGeom>
          <a:noFill/>
          <a:ln w="19050" cap="rnd">
            <a:solidFill>
              <a:srgbClr val="1F1C17"/>
            </a:solidFill>
            <a:round/>
            <a:tailEnd type="stealth"/>
          </a:ln>
        </p:spPr>
      </p:sp>
      <p:sp>
        <p:nvSpPr>
          <p:cNvPr id="7" name="gate1"/>
          <p:cNvSpPr/>
          <p:nvPr/>
        </p:nvSpPr>
        <p:spPr>
          <a:xfrm>
            <a:off x="2692400" y="1930400"/>
            <a:ext cx="63500" cy="939800"/>
          </a:xfrm>
          <a:prstGeom prst="rect">
            <a:avLst/>
          </a:prstGeom>
          <a:solidFill>
            <a:srgbClr val="C2481D"/>
          </a:solidFill>
          <a:ln>
            <a:noFill/>
          </a:ln>
        </p:spPr>
      </p:sp>
      <p:sp>
        <p:nvSpPr>
          <p:cNvPr id="8" name="gate1-label"/>
          <p:cNvSpPr txBox="1"/>
          <p:nvPr/>
        </p:nvSpPr>
        <p:spPr>
          <a:xfrm>
            <a:off x="1981200" y="29464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30000"/>
              </a:lnSpc>
            </a:pPr>
            <a:r>
              <a:rPr lang="en-US" sz="1150" noProof="1" b="1">
                <a:solidFill>
                  <a:srgbClr val="1F1C17"/>
                </a:solidFill>
                <a:latin typeface="Liter"/>
                <a:ea typeface="MiSans"/>
              </a:rPr>
              <a:t>pre-commit hook</a:t>
            </a:r>
            <a:endParaRPr lang="en-US" sz="1150" noProof="1"/>
          </a:p>
          <a:p>
            <a:pPr algn="ctr">
              <a:lnSpc>
                <a:spcPct val="130000"/>
              </a:lnSpc>
            </a:pPr>
            <a:r>
              <a:rPr lang="en-US" sz="1150" noProof="1" b="1">
                <a:solidFill>
                  <a:srgbClr val="1F1C17"/>
                </a:solidFill>
                <a:latin typeface="Liter"/>
                <a:ea typeface="MiSans"/>
              </a:rPr>
              <a:t>本地反馈</a:t>
            </a:r>
            <a:endParaRPr lang="en-US" sz="1150" noProof="1"/>
          </a:p>
        </p:txBody>
      </p:sp>
      <p:sp>
        <p:nvSpPr>
          <p:cNvPr id="9" name="g-a2"/>
          <p:cNvSpPr/>
          <p:nvPr>
            <p:extLst>
              <p:ext uri="{F5677B7D-0D2A-4D9B-9A5C-6D8D7D0E5A5D}">
                <pptd:line encoding="base64url">eyJ2aWV3Qm94IjpbMzYsMTJdLCJwb2ludHMiOiIwLDYgMzYsNiJ9</pptd:line>
              </p:ext>
            </p:extLst>
          </p:nvPr>
        </p:nvSpPr>
        <p:spPr>
          <a:xfrm>
            <a:off x="2921000" y="2311400"/>
            <a:ext cx="457200" cy="152400"/>
          </a:xfrm>
          <a:custGeom>
            <a:avLst/>
            <a:gdLst/>
            <a:ahLst/>
            <a:cxnLst/>
            <a:rect l="l" t="t" r="r" b="b"/>
            <a:pathLst>
              <a:path w="36" h="12">
                <a:moveTo>
                  <a:pt x="0" y="6"/>
                </a:moveTo>
                <a:lnTo>
                  <a:pt x="36" y="6"/>
                </a:lnTo>
              </a:path>
            </a:pathLst>
          </a:custGeom>
          <a:noFill/>
          <a:ln w="19050" cap="rnd">
            <a:solidFill>
              <a:srgbClr val="1F1C17"/>
            </a:solidFill>
            <a:round/>
            <a:tailEnd type="stealth"/>
          </a:ln>
        </p:spPr>
      </p:sp>
      <p:sp>
        <p:nvSpPr>
          <p:cNvPr id="10" name="g-push"/>
          <p:cNvSpPr txBox="1"/>
          <p:nvPr/>
        </p:nvSpPr>
        <p:spPr>
          <a:xfrm>
            <a:off x="3479800" y="2260600"/>
            <a:ext cx="88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1F1C17"/>
                </a:solidFill>
                <a:latin typeface="Liter"/>
                <a:ea typeface="MiSans"/>
              </a:rPr>
              <a:t>git push</a:t>
            </a:r>
            <a:endParaRPr lang="en-US" sz="1400" noProof="1"/>
          </a:p>
        </p:txBody>
      </p:sp>
      <p:sp>
        <p:nvSpPr>
          <p:cNvPr id="11" name="g-a3"/>
          <p:cNvSpPr/>
          <p:nvPr>
            <p:extLst>
              <p:ext uri="{F5677B7D-0D2A-4D9B-9A5C-6D8D7D0E5A5D}">
                <pptd:line encoding="base64url">eyJ2aWV3Qm94IjpbMzYsMTJdLCJwb2ludHMiOiIwLDYgMzYsNiJ9</pptd:line>
              </p:ext>
            </p:extLst>
          </p:nvPr>
        </p:nvSpPr>
        <p:spPr>
          <a:xfrm>
            <a:off x="4419600" y="2311400"/>
            <a:ext cx="457200" cy="152400"/>
          </a:xfrm>
          <a:custGeom>
            <a:avLst/>
            <a:gdLst/>
            <a:ahLst/>
            <a:cxnLst/>
            <a:rect l="l" t="t" r="r" b="b"/>
            <a:pathLst>
              <a:path w="36" h="12">
                <a:moveTo>
                  <a:pt x="0" y="6"/>
                </a:moveTo>
                <a:lnTo>
                  <a:pt x="36" y="6"/>
                </a:lnTo>
              </a:path>
            </a:pathLst>
          </a:custGeom>
          <a:noFill/>
          <a:ln w="19050" cap="rnd">
            <a:solidFill>
              <a:srgbClr val="1F1C17"/>
            </a:solidFill>
            <a:round/>
            <a:tailEnd type="stealth"/>
          </a:ln>
        </p:spPr>
      </p:sp>
      <p:sp>
        <p:nvSpPr>
          <p:cNvPr id="12" name="gate2"/>
          <p:cNvSpPr/>
          <p:nvPr/>
        </p:nvSpPr>
        <p:spPr>
          <a:xfrm>
            <a:off x="5054600" y="1930400"/>
            <a:ext cx="63500" cy="939800"/>
          </a:xfrm>
          <a:prstGeom prst="rect">
            <a:avLst/>
          </a:prstGeom>
          <a:solidFill>
            <a:srgbClr val="C2481D"/>
          </a:solidFill>
          <a:ln>
            <a:noFill/>
          </a:ln>
        </p:spPr>
      </p:sp>
      <p:sp>
        <p:nvSpPr>
          <p:cNvPr id="13" name="gate2-label"/>
          <p:cNvSpPr txBox="1"/>
          <p:nvPr/>
        </p:nvSpPr>
        <p:spPr>
          <a:xfrm>
            <a:off x="4191000" y="2946400"/>
            <a:ext cx="177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30000"/>
              </a:lnSpc>
            </a:pPr>
            <a:r>
              <a:rPr lang="en-US" sz="1150" noProof="1" b="1">
                <a:solidFill>
                  <a:srgbClr val="1F1C17"/>
                </a:solidFill>
                <a:latin typeface="Liter"/>
                <a:ea typeface="MiSans"/>
              </a:rPr>
              <a:t>CI 必需检查</a:t>
            </a:r>
            <a:endParaRPr lang="en-US" sz="1150" noProof="1"/>
          </a:p>
          <a:p>
            <a:pPr algn="ctr">
              <a:lnSpc>
                <a:spcPct val="130000"/>
              </a:lnSpc>
            </a:pPr>
            <a:r>
              <a:rPr lang="en-US" sz="1150" noProof="1" b="1">
                <a:solidFill>
                  <a:srgbClr val="1F1C17"/>
                </a:solidFill>
                <a:latin typeface="Liter"/>
                <a:ea typeface="MiSans"/>
              </a:rPr>
              <a:t>consistency / check</a:t>
            </a:r>
            <a:endParaRPr lang="en-US" sz="1150" noProof="1"/>
          </a:p>
        </p:txBody>
      </p:sp>
      <p:sp>
        <p:nvSpPr>
          <p:cNvPr id="14" name="g-a4"/>
          <p:cNvSpPr/>
          <p:nvPr>
            <p:extLst>
              <p:ext uri="{F5677B7D-0D2A-4D9B-9A5C-6D8D7D0E5A5D}">
                <pptd:line encoding="base64url">eyJ2aWV3Qm94IjpbMzYsMTJdLCJwb2ludHMiOiIwLDYgMzYsNiJ9</pptd:line>
              </p:ext>
            </p:extLst>
          </p:nvPr>
        </p:nvSpPr>
        <p:spPr>
          <a:xfrm>
            <a:off x="5283200" y="2311400"/>
            <a:ext cx="457200" cy="152400"/>
          </a:xfrm>
          <a:custGeom>
            <a:avLst/>
            <a:gdLst/>
            <a:ahLst/>
            <a:cxnLst/>
            <a:rect l="l" t="t" r="r" b="b"/>
            <a:pathLst>
              <a:path w="36" h="12">
                <a:moveTo>
                  <a:pt x="0" y="6"/>
                </a:moveTo>
                <a:lnTo>
                  <a:pt x="36" y="6"/>
                </a:lnTo>
              </a:path>
            </a:pathLst>
          </a:custGeom>
          <a:noFill/>
          <a:ln w="19050" cap="rnd">
            <a:solidFill>
              <a:srgbClr val="1F1C17"/>
            </a:solidFill>
            <a:round/>
            <a:tailEnd type="stealth"/>
          </a:ln>
        </p:spPr>
      </p:sp>
      <p:sp>
        <p:nvSpPr>
          <p:cNvPr id="15" name="g-main"/>
          <p:cNvSpPr txBox="1"/>
          <p:nvPr/>
        </p:nvSpPr>
        <p:spPr>
          <a:xfrm>
            <a:off x="5842000" y="2260600"/>
            <a:ext cx="114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C2481D"/>
                </a:solidFill>
                <a:latin typeface="Liter"/>
                <a:ea typeface="MiSans"/>
              </a:rPr>
              <a:t>合入 main</a:t>
            </a:r>
            <a:endParaRPr lang="en-US" sz="1500" noProof="1"/>
          </a:p>
        </p:txBody>
      </p:sp>
      <p:sp>
        <p:nvSpPr>
          <p:cNvPr id="16" name="g-note"/>
          <p:cNvSpPr txBox="1"/>
          <p:nvPr/>
        </p:nvSpPr>
        <p:spPr>
          <a:xfrm>
            <a:off x="7696200" y="1981200"/>
            <a:ext cx="36576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6E675B"/>
                </a:solidFill>
                <a:latin typeface="Liter"/>
                <a:ea typeface="MiSans"/>
              </a:rPr>
              <a:t>两道门跑的是同一个脚本 scripts/check-consistency.sh：本地 hook 是开发期反馈，CI 才是合并门——不启用本地 hook，也绕不过检查。</a:t>
            </a:r>
            <a:endParaRPr lang="en-US" sz="1250" noProof="1"/>
          </a:p>
        </p:txBody>
      </p:sp>
      <p:sp>
        <p:nvSpPr>
          <p:cNvPr id="17" name="rows-rule-0"/>
          <p:cNvSpPr/>
          <p:nvPr/>
        </p:nvSpPr>
        <p:spPr>
          <a:xfrm>
            <a:off x="838200" y="3657600"/>
            <a:ext cx="105156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</p:sp>
      <p:sp>
        <p:nvSpPr>
          <p:cNvPr id="18" name="r1-range"/>
          <p:cNvSpPr txBox="1"/>
          <p:nvPr/>
        </p:nvSpPr>
        <p:spPr>
          <a:xfrm>
            <a:off x="838200" y="38354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C2481D"/>
                </a:solidFill>
                <a:latin typeface="得意黑"/>
                <a:ea typeface="得意黑"/>
              </a:rPr>
              <a:t>C1–C7</a:t>
            </a:r>
            <a:endParaRPr lang="en-US" sz="1600" noProof="1"/>
          </a:p>
        </p:txBody>
      </p:sp>
      <p:sp>
        <p:nvSpPr>
          <p:cNvPr id="19" name="r1-name"/>
          <p:cNvSpPr txBox="1"/>
          <p:nvPr/>
        </p:nvSpPr>
        <p:spPr>
          <a:xfrm>
            <a:off x="2413000" y="3860800"/>
            <a:ext cx="1397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F1C17"/>
                </a:solidFill>
                <a:latin typeface="Liter"/>
                <a:ea typeface="MiSans"/>
              </a:rPr>
              <a:t>计数同步</a:t>
            </a:r>
            <a:endParaRPr lang="en-US" sz="1400" noProof="1"/>
          </a:p>
        </p:txBody>
      </p:sp>
      <p:sp>
        <p:nvSpPr>
          <p:cNvPr id="20" name="r1-desc"/>
          <p:cNvSpPr txBox="1"/>
          <p:nvPr/>
        </p:nvSpPr>
        <p:spPr>
          <a:xfrm>
            <a:off x="4038600" y="3873500"/>
            <a:ext cx="7315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75B"/>
                </a:solidFill>
                <a:latin typeface="Liter"/>
                <a:ea typeface="MiSans"/>
              </a:rPr>
              <a:t>文章编号连续；篇数、翻译数、结构树、三脉络计数与所有下游声明一致</a:t>
            </a:r>
            <a:endParaRPr lang="en-US" sz="1200" noProof="1"/>
          </a:p>
        </p:txBody>
      </p:sp>
      <p:sp>
        <p:nvSpPr>
          <p:cNvPr id="21" name="rows-rule-1"/>
          <p:cNvSpPr/>
          <p:nvPr/>
        </p:nvSpPr>
        <p:spPr>
          <a:xfrm>
            <a:off x="838200" y="4267200"/>
            <a:ext cx="105156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</p:sp>
      <p:sp>
        <p:nvSpPr>
          <p:cNvPr id="22" name="r2-range"/>
          <p:cNvSpPr txBox="1"/>
          <p:nvPr/>
        </p:nvSpPr>
        <p:spPr>
          <a:xfrm>
            <a:off x="838200" y="44450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C2481D"/>
                </a:solidFill>
                <a:latin typeface="得意黑"/>
                <a:ea typeface="得意黑"/>
              </a:rPr>
              <a:t>C8–C9</a:t>
            </a:r>
            <a:endParaRPr lang="en-US" sz="1600" noProof="1"/>
          </a:p>
        </p:txBody>
      </p:sp>
      <p:sp>
        <p:nvSpPr>
          <p:cNvPr id="23" name="r2-name"/>
          <p:cNvSpPr txBox="1"/>
          <p:nvPr/>
        </p:nvSpPr>
        <p:spPr>
          <a:xfrm>
            <a:off x="2413000" y="4470400"/>
            <a:ext cx="1397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F1C17"/>
                </a:solidFill>
                <a:latin typeface="Liter"/>
                <a:ea typeface="MiSans"/>
              </a:rPr>
              <a:t>措辞守卫</a:t>
            </a:r>
            <a:endParaRPr lang="en-US" sz="1400" noProof="1"/>
          </a:p>
        </p:txBody>
      </p:sp>
      <p:sp>
        <p:nvSpPr>
          <p:cNvPr id="24" name="r2-desc"/>
          <p:cNvSpPr txBox="1"/>
          <p:nvPr/>
        </p:nvSpPr>
        <p:spPr>
          <a:xfrm>
            <a:off x="4038600" y="4483100"/>
            <a:ext cx="7315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75B"/>
                </a:solidFill>
                <a:latin typeface="Liter"/>
                <a:ea typeface="MiSans"/>
              </a:rPr>
              <a:t>过程稿与结论不自相矛盾；正文不裸写会腐烂的活计数，历史提法须带时点</a:t>
            </a:r>
            <a:endParaRPr lang="en-US" sz="1200" noProof="1"/>
          </a:p>
        </p:txBody>
      </p:sp>
      <p:sp>
        <p:nvSpPr>
          <p:cNvPr id="25" name="rows-rule-2"/>
          <p:cNvSpPr/>
          <p:nvPr/>
        </p:nvSpPr>
        <p:spPr>
          <a:xfrm>
            <a:off x="838200" y="4876800"/>
            <a:ext cx="105156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</p:sp>
      <p:sp>
        <p:nvSpPr>
          <p:cNvPr id="26" name="r3-range"/>
          <p:cNvSpPr txBox="1"/>
          <p:nvPr/>
        </p:nvSpPr>
        <p:spPr>
          <a:xfrm>
            <a:off x="838200" y="50546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C2481D"/>
                </a:solidFill>
                <a:latin typeface="得意黑"/>
                <a:ea typeface="得意黑"/>
              </a:rPr>
              <a:t>C10·C13</a:t>
            </a:r>
            <a:endParaRPr lang="en-US" sz="1600" noProof="1"/>
          </a:p>
        </p:txBody>
      </p:sp>
      <p:sp>
        <p:nvSpPr>
          <p:cNvPr id="27" name="r3-name"/>
          <p:cNvSpPr txBox="1"/>
          <p:nvPr/>
        </p:nvSpPr>
        <p:spPr>
          <a:xfrm>
            <a:off x="2413000" y="5080000"/>
            <a:ext cx="1397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F1C17"/>
                </a:solidFill>
                <a:latin typeface="Liter"/>
                <a:ea typeface="MiSans"/>
              </a:rPr>
              <a:t>图片保真</a:t>
            </a:r>
            <a:endParaRPr lang="en-US" sz="1400" noProof="1"/>
          </a:p>
        </p:txBody>
      </p:sp>
      <p:sp>
        <p:nvSpPr>
          <p:cNvPr id="28" name="r3-desc"/>
          <p:cNvSpPr txBox="1"/>
          <p:nvPr/>
        </p:nvSpPr>
        <p:spPr>
          <a:xfrm>
            <a:off x="4038600" y="5092700"/>
            <a:ext cx="7315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75B"/>
                </a:solidFill>
                <a:latin typeface="Liter"/>
                <a:ea typeface="MiSans"/>
              </a:rPr>
              <a:t>译文嵌图数须可证伪；声明零插图必须留痕——写清核对方式与日期</a:t>
            </a:r>
            <a:endParaRPr lang="en-US" sz="1200" noProof="1"/>
          </a:p>
        </p:txBody>
      </p:sp>
      <p:sp>
        <p:nvSpPr>
          <p:cNvPr id="29" name="rows-rule-3"/>
          <p:cNvSpPr/>
          <p:nvPr/>
        </p:nvSpPr>
        <p:spPr>
          <a:xfrm>
            <a:off x="838200" y="5486400"/>
            <a:ext cx="105156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</p:sp>
      <p:sp>
        <p:nvSpPr>
          <p:cNvPr id="30" name="r4-range"/>
          <p:cNvSpPr txBox="1"/>
          <p:nvPr/>
        </p:nvSpPr>
        <p:spPr>
          <a:xfrm>
            <a:off x="838200" y="5664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C2481D"/>
                </a:solidFill>
                <a:latin typeface="得意黑"/>
                <a:ea typeface="得意黑"/>
              </a:rPr>
              <a:t>C11–C12</a:t>
            </a:r>
            <a:endParaRPr lang="en-US" sz="1600" noProof="1"/>
          </a:p>
        </p:txBody>
      </p:sp>
      <p:sp>
        <p:nvSpPr>
          <p:cNvPr id="31" name="r4-name"/>
          <p:cNvSpPr txBox="1"/>
          <p:nvPr/>
        </p:nvSpPr>
        <p:spPr>
          <a:xfrm>
            <a:off x="2413000" y="5689600"/>
            <a:ext cx="1397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F1C17"/>
                </a:solidFill>
                <a:latin typeface="Liter"/>
                <a:ea typeface="MiSans"/>
              </a:rPr>
              <a:t>形状完整</a:t>
            </a:r>
            <a:endParaRPr lang="en-US" sz="1400" noProof="1"/>
          </a:p>
        </p:txBody>
      </p:sp>
      <p:sp>
        <p:nvSpPr>
          <p:cNvPr id="32" name="r4-desc"/>
          <p:cNvSpPr txBox="1"/>
          <p:nvPr/>
        </p:nvSpPr>
        <p:spPr>
          <a:xfrm>
            <a:off x="4038600" y="5702300"/>
            <a:ext cx="7315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75B"/>
                </a:solidFill>
                <a:latin typeface="Liter"/>
                <a:ea typeface="MiSans"/>
              </a:rPr>
              <a:t>表格行列与表头对齐；每条资料条目必须带作者与日期字段</a:t>
            </a:r>
            <a:endParaRPr lang="en-US" sz="1200" noProof="1"/>
          </a:p>
        </p:txBody>
      </p:sp>
      <p:sp>
        <p:nvSpPr>
          <p:cNvPr id="33" name="foot"/>
          <p:cNvSpPr txBox="1"/>
          <p:nvPr/>
        </p:nvSpPr>
        <p:spPr>
          <a:xfrm>
            <a:off x="838200" y="6248400"/>
            <a:ext cx="10515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98907F"/>
                </a:solidFill>
                <a:latin typeface="Liter"/>
                <a:ea typeface="MiSans"/>
              </a:rPr>
              <a:t>启用本地门：git config core.hooksPath .githooks · CI 兜底：.github/workflows/consistency.yml</a:t>
            </a:r>
            <a:endParaRPr lang="en-US" sz="1100" noProof="1"/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38200" y="660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400" kern="0">
                <a:solidFill>
                  <a:srgbClr val="C2481D"/>
                </a:solidFill>
                <a:latin typeface="Liter"/>
                <a:ea typeface="MiSans"/>
              </a:rPr>
              <a:t>07 · 自指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838200" y="965200"/>
            <a:ext cx="10515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1F1C17"/>
                </a:solidFill>
                <a:latin typeface="得意黑"/>
                <a:ea typeface="得意黑"/>
              </a:rPr>
              <a:t>这个仓库，开始策展自己了</a:t>
            </a:r>
            <a:endParaRPr lang="en-US" sz="3000" noProof="1"/>
          </a:p>
        </p:txBody>
      </p:sp>
      <p:sp>
        <p:nvSpPr>
          <p:cNvPr id="4" name="title-rule"/>
          <p:cNvSpPr/>
          <p:nvPr/>
        </p:nvSpPr>
        <p:spPr>
          <a:xfrm>
            <a:off x="838200" y="1625600"/>
            <a:ext cx="105156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</p:sp>
      <p:sp>
        <p:nvSpPr>
          <p:cNvPr id="5" name="f-0"/>
          <p:cNvSpPr txBox="1"/>
          <p:nvPr/>
        </p:nvSpPr>
        <p:spPr>
          <a:xfrm>
            <a:off x="838200" y="2235200"/>
            <a:ext cx="1066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6E675B"/>
                </a:solidFill>
                <a:latin typeface="Liter"/>
                <a:ea typeface="MiSans"/>
              </a:rPr>
              <a:t>调研候选</a:t>
            </a:r>
            <a:endParaRPr lang="en-US" sz="1400" noProof="1"/>
          </a:p>
        </p:txBody>
      </p:sp>
      <p:sp>
        <p:nvSpPr>
          <p:cNvPr id="6" name="f-a0"/>
          <p:cNvSpPr/>
          <p:nvPr>
            <p:extLst>
              <p:ext uri="{F5677B7D-0D2A-4D9B-9A5C-6D8D7D0E5A5D}">
                <pptd:line encoding="base64url">eyJ2aWV3Qm94IjpbMzAsMTJdLCJwb2ludHMiOiIwLDYgMzAsNiJ9</pptd:line>
              </p:ext>
            </p:extLst>
          </p:nvPr>
        </p:nvSpPr>
        <p:spPr>
          <a:xfrm>
            <a:off x="1981200" y="2286000"/>
            <a:ext cx="381000" cy="152400"/>
          </a:xfrm>
          <a:custGeom>
            <a:avLst/>
            <a:gdLst/>
            <a:ahLst/>
            <a:cxnLst/>
            <a:rect l="l" t="t" r="r" b="b"/>
            <a:pathLst>
              <a:path w="30" h="12">
                <a:moveTo>
                  <a:pt x="0" y="6"/>
                </a:moveTo>
                <a:lnTo>
                  <a:pt x="30" y="6"/>
                </a:lnTo>
              </a:path>
            </a:pathLst>
          </a:custGeom>
          <a:noFill/>
          <a:ln w="19050" cap="rnd">
            <a:solidFill>
              <a:srgbClr val="1F1C17"/>
            </a:solidFill>
            <a:round/>
            <a:tailEnd type="stealth"/>
          </a:ln>
        </p:spPr>
      </p:sp>
      <p:sp>
        <p:nvSpPr>
          <p:cNvPr id="7" name="f-1"/>
          <p:cNvSpPr txBox="1"/>
          <p:nvPr/>
        </p:nvSpPr>
        <p:spPr>
          <a:xfrm>
            <a:off x="2463800" y="22352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F1C17"/>
                </a:solidFill>
                <a:latin typeface="Liter"/>
                <a:ea typeface="MiSans"/>
              </a:rPr>
              <a:t>抓取</a:t>
            </a:r>
            <a:endParaRPr lang="en-US" sz="1400" noProof="1"/>
          </a:p>
        </p:txBody>
      </p:sp>
      <p:sp>
        <p:nvSpPr>
          <p:cNvPr id="8" name="f-a1"/>
          <p:cNvSpPr/>
          <p:nvPr>
            <p:extLst>
              <p:ext uri="{F5677B7D-0D2A-4D9B-9A5C-6D8D7D0E5A5D}">
                <pptd:line encoding="base64url">eyJ2aWV3Qm94IjpbMzAsMTJdLCJwb2ludHMiOiIwLDYgMzAsNiJ9</pptd:line>
              </p:ext>
            </p:extLst>
          </p:nvPr>
        </p:nvSpPr>
        <p:spPr>
          <a:xfrm>
            <a:off x="3225800" y="2286000"/>
            <a:ext cx="381000" cy="152400"/>
          </a:xfrm>
          <a:custGeom>
            <a:avLst/>
            <a:gdLst/>
            <a:ahLst/>
            <a:cxnLst/>
            <a:rect l="l" t="t" r="r" b="b"/>
            <a:pathLst>
              <a:path w="30" h="12">
                <a:moveTo>
                  <a:pt x="0" y="6"/>
                </a:moveTo>
                <a:lnTo>
                  <a:pt x="30" y="6"/>
                </a:lnTo>
              </a:path>
            </a:pathLst>
          </a:custGeom>
          <a:noFill/>
          <a:ln w="19050" cap="rnd">
            <a:solidFill>
              <a:srgbClr val="1F1C17"/>
            </a:solidFill>
            <a:round/>
            <a:tailEnd type="stealth"/>
          </a:ln>
        </p:spPr>
      </p:sp>
      <p:sp>
        <p:nvSpPr>
          <p:cNvPr id="9" name="f-2"/>
          <p:cNvSpPr txBox="1"/>
          <p:nvPr/>
        </p:nvSpPr>
        <p:spPr>
          <a:xfrm>
            <a:off x="3708400" y="22352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F1C17"/>
                </a:solidFill>
                <a:latin typeface="Liter"/>
                <a:ea typeface="MiSans"/>
              </a:rPr>
              <a:t>翻译</a:t>
            </a:r>
            <a:endParaRPr lang="en-US" sz="1400" noProof="1"/>
          </a:p>
        </p:txBody>
      </p:sp>
      <p:sp>
        <p:nvSpPr>
          <p:cNvPr id="10" name="f-a2"/>
          <p:cNvSpPr/>
          <p:nvPr>
            <p:extLst>
              <p:ext uri="{F5677B7D-0D2A-4D9B-9A5C-6D8D7D0E5A5D}">
                <pptd:line encoding="base64url">eyJ2aWV3Qm94IjpbMzAsMTJdLCJwb2ludHMiOiIwLDYgMzAsNiJ9</pptd:line>
              </p:ext>
            </p:extLst>
          </p:nvPr>
        </p:nvSpPr>
        <p:spPr>
          <a:xfrm>
            <a:off x="4470400" y="2286000"/>
            <a:ext cx="381000" cy="152400"/>
          </a:xfrm>
          <a:custGeom>
            <a:avLst/>
            <a:gdLst/>
            <a:ahLst/>
            <a:cxnLst/>
            <a:rect l="l" t="t" r="r" b="b"/>
            <a:pathLst>
              <a:path w="30" h="12">
                <a:moveTo>
                  <a:pt x="0" y="6"/>
                </a:moveTo>
                <a:lnTo>
                  <a:pt x="30" y="6"/>
                </a:lnTo>
              </a:path>
            </a:pathLst>
          </a:custGeom>
          <a:noFill/>
          <a:ln w="19050" cap="rnd">
            <a:solidFill>
              <a:srgbClr val="1F1C17"/>
            </a:solidFill>
            <a:round/>
            <a:tailEnd type="stealth"/>
          </a:ln>
        </p:spPr>
      </p:sp>
      <p:sp>
        <p:nvSpPr>
          <p:cNvPr id="11" name="f-3"/>
          <p:cNvSpPr txBox="1"/>
          <p:nvPr/>
        </p:nvSpPr>
        <p:spPr>
          <a:xfrm>
            <a:off x="4953000" y="22352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F1C17"/>
                </a:solidFill>
                <a:latin typeface="Liter"/>
                <a:ea typeface="MiSans"/>
              </a:rPr>
              <a:t>评审（并行 agent）</a:t>
            </a:r>
            <a:endParaRPr lang="en-US" sz="1400" noProof="1"/>
          </a:p>
        </p:txBody>
      </p:sp>
      <p:sp>
        <p:nvSpPr>
          <p:cNvPr id="12" name="f-a3"/>
          <p:cNvSpPr/>
          <p:nvPr>
            <p:extLst>
              <p:ext uri="{F5677B7D-0D2A-4D9B-9A5C-6D8D7D0E5A5D}">
                <pptd:line encoding="base64url">eyJ2aWV3Qm94IjpbMzAsMTJdLCJwb2ludHMiOiIwLDYgMzAsNiJ9</pptd:line>
              </p:ext>
            </p:extLst>
          </p:nvPr>
        </p:nvSpPr>
        <p:spPr>
          <a:xfrm>
            <a:off x="6934200" y="2286000"/>
            <a:ext cx="381000" cy="152400"/>
          </a:xfrm>
          <a:custGeom>
            <a:avLst/>
            <a:gdLst/>
            <a:ahLst/>
            <a:cxnLst/>
            <a:rect l="l" t="t" r="r" b="b"/>
            <a:pathLst>
              <a:path w="30" h="12">
                <a:moveTo>
                  <a:pt x="0" y="6"/>
                </a:moveTo>
                <a:lnTo>
                  <a:pt x="30" y="6"/>
                </a:lnTo>
              </a:path>
            </a:pathLst>
          </a:custGeom>
          <a:noFill/>
          <a:ln w="19050" cap="rnd">
            <a:solidFill>
              <a:srgbClr val="1F1C17"/>
            </a:solidFill>
            <a:round/>
            <a:tailEnd type="stealth"/>
          </a:ln>
        </p:spPr>
      </p:sp>
      <p:sp>
        <p:nvSpPr>
          <p:cNvPr id="13" name="gate"/>
          <p:cNvSpPr/>
          <p:nvPr/>
        </p:nvSpPr>
        <p:spPr>
          <a:xfrm>
            <a:off x="7493000" y="1905000"/>
            <a:ext cx="63500" cy="939800"/>
          </a:xfrm>
          <a:prstGeom prst="rect">
            <a:avLst/>
          </a:prstGeom>
          <a:solidFill>
            <a:srgbClr val="C2481D"/>
          </a:solidFill>
          <a:ln>
            <a:noFill/>
          </a:ln>
        </p:spPr>
      </p:sp>
      <p:sp>
        <p:nvSpPr>
          <p:cNvPr id="14" name="gate-label"/>
          <p:cNvSpPr txBox="1"/>
          <p:nvPr/>
        </p:nvSpPr>
        <p:spPr>
          <a:xfrm>
            <a:off x="6858000" y="2921000"/>
            <a:ext cx="1346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C2481D"/>
                </a:solidFill>
                <a:latin typeface="Liter"/>
                <a:ea typeface="MiSans"/>
              </a:rPr>
              <a:t>人类闸门</a:t>
            </a:r>
            <a:endParaRPr lang="en-US" sz="1200" noProof="1"/>
          </a:p>
        </p:txBody>
      </p:sp>
      <p:sp>
        <p:nvSpPr>
          <p:cNvPr id="15" name="f-a4"/>
          <p:cNvSpPr/>
          <p:nvPr>
            <p:extLst>
              <p:ext uri="{F5677B7D-0D2A-4D9B-9A5C-6D8D7D0E5A5D}">
                <pptd:line encoding="base64url">eyJ2aWV3Qm94IjpbMzAsMTJdLCJwb2ludHMiOiIwLDYgMzAsNiJ9</pptd:line>
              </p:ext>
            </p:extLst>
          </p:nvPr>
        </p:nvSpPr>
        <p:spPr>
          <a:xfrm>
            <a:off x="7721600" y="2286000"/>
            <a:ext cx="381000" cy="152400"/>
          </a:xfrm>
          <a:custGeom>
            <a:avLst/>
            <a:gdLst/>
            <a:ahLst/>
            <a:cxnLst/>
            <a:rect l="l" t="t" r="r" b="b"/>
            <a:pathLst>
              <a:path w="30" h="12">
                <a:moveTo>
                  <a:pt x="0" y="6"/>
                </a:moveTo>
                <a:lnTo>
                  <a:pt x="30" y="6"/>
                </a:lnTo>
              </a:path>
            </a:pathLst>
          </a:custGeom>
          <a:noFill/>
          <a:ln w="19050" cap="rnd">
            <a:solidFill>
              <a:srgbClr val="1F1C17"/>
            </a:solidFill>
            <a:round/>
            <a:tailEnd type="stealth"/>
          </a:ln>
        </p:spPr>
      </p:sp>
      <p:sp>
        <p:nvSpPr>
          <p:cNvPr id="16" name="f-4"/>
          <p:cNvSpPr txBox="1"/>
          <p:nvPr/>
        </p:nvSpPr>
        <p:spPr>
          <a:xfrm>
            <a:off x="8204200" y="22352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F1C17"/>
                </a:solidFill>
                <a:latin typeface="Liter"/>
                <a:ea typeface="MiSans"/>
              </a:rPr>
              <a:t>收录</a:t>
            </a:r>
            <a:endParaRPr lang="en-US" sz="1400" noProof="1"/>
          </a:p>
        </p:txBody>
      </p:sp>
      <p:sp>
        <p:nvSpPr>
          <p:cNvPr id="17" name="f-a5"/>
          <p:cNvSpPr/>
          <p:nvPr>
            <p:extLst>
              <p:ext uri="{F5677B7D-0D2A-4D9B-9A5C-6D8D7D0E5A5D}">
                <pptd:line encoding="base64url">eyJ2aWV3Qm94IjpbMzAsMTJdLCJwb2ludHMiOiIwLDYgMzAsNiJ9</pptd:line>
              </p:ext>
            </p:extLst>
          </p:nvPr>
        </p:nvSpPr>
        <p:spPr>
          <a:xfrm>
            <a:off x="8966200" y="2286000"/>
            <a:ext cx="381000" cy="152400"/>
          </a:xfrm>
          <a:custGeom>
            <a:avLst/>
            <a:gdLst/>
            <a:ahLst/>
            <a:cxnLst/>
            <a:rect l="l" t="t" r="r" b="b"/>
            <a:pathLst>
              <a:path w="30" h="12">
                <a:moveTo>
                  <a:pt x="0" y="6"/>
                </a:moveTo>
                <a:lnTo>
                  <a:pt x="30" y="6"/>
                </a:lnTo>
              </a:path>
            </a:pathLst>
          </a:custGeom>
          <a:noFill/>
          <a:ln w="19050" cap="rnd">
            <a:solidFill>
              <a:srgbClr val="1F1C17"/>
            </a:solidFill>
            <a:round/>
            <a:tailEnd type="stealth"/>
          </a:ln>
        </p:spPr>
      </p:sp>
      <p:sp>
        <p:nvSpPr>
          <p:cNvPr id="18" name="f-5"/>
          <p:cNvSpPr txBox="1"/>
          <p:nvPr/>
        </p:nvSpPr>
        <p:spPr>
          <a:xfrm>
            <a:off x="9448800" y="22352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F1C17"/>
                </a:solidFill>
                <a:latin typeface="Liter"/>
                <a:ea typeface="MiSans"/>
              </a:rPr>
              <a:t>清理</a:t>
            </a:r>
            <a:endParaRPr lang="en-US" sz="1400" noProof="1"/>
          </a:p>
        </p:txBody>
      </p:sp>
      <p:sp>
        <p:nvSpPr>
          <p:cNvPr id="19" name="rail"/>
          <p:cNvSpPr/>
          <p:nvPr/>
        </p:nvSpPr>
        <p:spPr>
          <a:xfrm>
            <a:off x="838200" y="3327400"/>
            <a:ext cx="93218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</p:sp>
      <p:sp>
        <p:nvSpPr>
          <p:cNvPr id="20" name="rail-tick-l"/>
          <p:cNvSpPr/>
          <p:nvPr/>
        </p:nvSpPr>
        <p:spPr>
          <a:xfrm>
            <a:off x="838200" y="3225800"/>
            <a:ext cx="12700" cy="114300"/>
          </a:xfrm>
          <a:prstGeom prst="rect">
            <a:avLst/>
          </a:prstGeom>
          <a:solidFill>
            <a:srgbClr val="98907F"/>
          </a:solidFill>
          <a:ln>
            <a:noFill/>
          </a:ln>
        </p:spPr>
      </p:sp>
      <p:sp>
        <p:nvSpPr>
          <p:cNvPr id="21" name="rail-tick-r"/>
          <p:cNvSpPr/>
          <p:nvPr/>
        </p:nvSpPr>
        <p:spPr>
          <a:xfrm>
            <a:off x="10147300" y="3225800"/>
            <a:ext cx="12700" cy="114300"/>
          </a:xfrm>
          <a:prstGeom prst="rect">
            <a:avLst/>
          </a:prstGeom>
          <a:solidFill>
            <a:srgbClr val="98907F"/>
          </a:solidFill>
          <a:ln>
            <a:noFill/>
          </a:ln>
        </p:spPr>
      </p:sp>
      <p:sp>
        <p:nvSpPr>
          <p:cNvPr id="22" name="rail-label"/>
          <p:cNvSpPr txBox="1"/>
          <p:nvPr/>
        </p:nvSpPr>
        <p:spPr>
          <a:xfrm>
            <a:off x="838200" y="3429000"/>
            <a:ext cx="93218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98907F"/>
                </a:solidFill>
                <a:latin typeface="Liter"/>
                <a:ea typeface="MiSans"/>
              </a:rPr>
              <a:t>C1–C13 机械护栏全程在位：每一步落盘都要过同一套一致性检查</a:t>
            </a:r>
            <a:endParaRPr lang="en-US" sz="1100" noProof="1"/>
          </a:p>
        </p:txBody>
      </p:sp>
      <p:sp>
        <p:nvSpPr>
          <p:cNvPr id="23" name="m1-term"/>
          <p:cNvSpPr txBox="1"/>
          <p:nvPr/>
        </p:nvSpPr>
        <p:spPr>
          <a:xfrm>
            <a:off x="838200" y="40894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1F1C17"/>
                </a:solidFill>
                <a:latin typeface="得意黑"/>
                <a:ea typeface="得意黑"/>
              </a:rPr>
              <a:t>人类掌舵</a:t>
            </a:r>
            <a:endParaRPr lang="en-US" sz="1700" noProof="1"/>
          </a:p>
        </p:txBody>
      </p:sp>
      <p:sp>
        <p:nvSpPr>
          <p:cNvPr id="24" name="m1-desc"/>
          <p:cNvSpPr txBox="1"/>
          <p:nvPr/>
        </p:nvSpPr>
        <p:spPr>
          <a:xfrm>
            <a:off x="3048000" y="4140200"/>
            <a:ext cx="8305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75B"/>
                </a:solidFill>
                <a:latin typeface="Liter"/>
                <a:ea typeface="MiSans"/>
              </a:rPr>
              <a:t>收不收进来，始终是一道人类闸门——评审只给证据，不替人做决定</a:t>
            </a:r>
            <a:endParaRPr lang="en-US" sz="1300" noProof="1"/>
          </a:p>
        </p:txBody>
      </p:sp>
      <p:sp>
        <p:nvSpPr>
          <p:cNvPr id="25" name="m2-term"/>
          <p:cNvSpPr txBox="1"/>
          <p:nvPr/>
        </p:nvSpPr>
        <p:spPr>
          <a:xfrm>
            <a:off x="838200" y="4648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1F1C17"/>
                </a:solidFill>
                <a:latin typeface="得意黑"/>
                <a:ea typeface="得意黑"/>
              </a:rPr>
              <a:t>智能体执行</a:t>
            </a:r>
            <a:endParaRPr lang="en-US" sz="1700" noProof="1"/>
          </a:p>
        </p:txBody>
      </p:sp>
      <p:sp>
        <p:nvSpPr>
          <p:cNvPr id="26" name="m2-desc"/>
          <p:cNvSpPr txBox="1"/>
          <p:nvPr/>
        </p:nvSpPr>
        <p:spPr>
          <a:xfrm>
            <a:off x="3048000" y="4699000"/>
            <a:ext cx="8305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75B"/>
                </a:solidFill>
                <a:latin typeface="Liter"/>
                <a:ea typeface="MiSans"/>
              </a:rPr>
              <a:t>抓取、翻译、评审由并行 agent 在流水线里完成，反馈回路自动闭合</a:t>
            </a:r>
            <a:endParaRPr lang="en-US" sz="1300" noProof="1"/>
          </a:p>
        </p:txBody>
      </p:sp>
      <p:sp>
        <p:nvSpPr>
          <p:cNvPr id="27" name="m3-term"/>
          <p:cNvSpPr txBox="1"/>
          <p:nvPr/>
        </p:nvSpPr>
        <p:spPr>
          <a:xfrm>
            <a:off x="838200" y="52070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1F1C17"/>
                </a:solidFill>
                <a:latin typeface="得意黑"/>
                <a:ea typeface="得意黑"/>
              </a:rPr>
              <a:t>机械护栏</a:t>
            </a:r>
            <a:endParaRPr lang="en-US" sz="1700" noProof="1"/>
          </a:p>
        </p:txBody>
      </p:sp>
      <p:sp>
        <p:nvSpPr>
          <p:cNvPr id="28" name="m3-desc"/>
          <p:cNvSpPr txBox="1"/>
          <p:nvPr/>
        </p:nvSpPr>
        <p:spPr>
          <a:xfrm>
            <a:off x="3048000" y="5257800"/>
            <a:ext cx="8305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75B"/>
                </a:solidFill>
                <a:latin typeface="Liter"/>
                <a:ea typeface="MiSans"/>
              </a:rPr>
              <a:t>check-consistency.sh 的 C1–C13 守住计数与保真，不靠自觉靠脚本</a:t>
            </a:r>
            <a:endParaRPr lang="en-US" sz="1300" noProof="1"/>
          </a:p>
        </p:txBody>
      </p:sp>
      <p:sp>
        <p:nvSpPr>
          <p:cNvPr id="29" name="foot-rule"/>
          <p:cNvSpPr/>
          <p:nvPr/>
        </p:nvSpPr>
        <p:spPr>
          <a:xfrm>
            <a:off x="838200" y="5867400"/>
            <a:ext cx="105156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</p:sp>
      <p:sp>
        <p:nvSpPr>
          <p:cNvPr id="30" name="foot"/>
          <p:cNvSpPr txBox="1"/>
          <p:nvPr/>
        </p:nvSpPr>
        <p:spPr>
          <a:xfrm>
            <a:off x="838200" y="6019800"/>
            <a:ext cx="10515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98907F"/>
                </a:solidFill>
                <a:latin typeface="Liter"/>
                <a:ea typeface="MiSans"/>
              </a:rPr>
              <a:t>流水线已固化为 skill：.claude/skills/curate-research —— 约束本身成了产品，见 concepts/07-spec-as-product.md</a:t>
            </a:r>
            <a:endParaRPr lang="en-US" sz="1100" noProof="1"/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38200" y="660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400" kern="0">
                <a:solidFill>
                  <a:srgbClr val="C2481D"/>
                </a:solidFill>
                <a:latin typeface="Liter"/>
                <a:ea typeface="MiSans"/>
              </a:rPr>
              <a:t>08 · 底座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838200" y="965200"/>
            <a:ext cx="10515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1F1C17"/>
                </a:solidFill>
                <a:latin typeface="得意黑"/>
                <a:ea typeface="得意黑"/>
              </a:rPr>
              <a:t>74 篇文章打底，34 篇全文中译</a:t>
            </a:r>
            <a:endParaRPr lang="en-US" sz="3000" noProof="1"/>
          </a:p>
        </p:txBody>
      </p:sp>
      <p:sp>
        <p:nvSpPr>
          <p:cNvPr id="4" name="title-rule"/>
          <p:cNvSpPr/>
          <p:nvPr/>
        </p:nvSpPr>
        <p:spPr>
          <a:xfrm>
            <a:off x="838200" y="1625600"/>
            <a:ext cx="105156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</p:sp>
      <p:sp>
        <p:nvSpPr>
          <p:cNvPr id="5" name="band-1"/>
          <p:cNvSpPr/>
          <p:nvPr/>
        </p:nvSpPr>
        <p:spPr>
          <a:xfrm>
            <a:off x="838200" y="1981200"/>
            <a:ext cx="9906000" cy="381000"/>
          </a:xfrm>
          <a:prstGeom prst="rect">
            <a:avLst/>
          </a:prstGeom>
          <a:solidFill>
            <a:srgbClr val="1F1C17"/>
          </a:solidFill>
          <a:ln>
            <a:noFill/>
          </a:ln>
        </p:spPr>
      </p:sp>
      <p:sp>
        <p:nvSpPr>
          <p:cNvPr id="6" name="band-2"/>
          <p:cNvSpPr/>
          <p:nvPr/>
        </p:nvSpPr>
        <p:spPr>
          <a:xfrm>
            <a:off x="10769600" y="1981200"/>
            <a:ext cx="279400" cy="381000"/>
          </a:xfrm>
          <a:prstGeom prst="rect">
            <a:avLst/>
          </a:prstGeom>
          <a:solidFill>
            <a:srgbClr val="C2481D"/>
          </a:solidFill>
          <a:ln>
            <a:noFill/>
          </a:ln>
        </p:spPr>
      </p:sp>
      <p:sp>
        <p:nvSpPr>
          <p:cNvPr id="7" name="band-3"/>
          <p:cNvSpPr/>
          <p:nvPr/>
        </p:nvSpPr>
        <p:spPr>
          <a:xfrm>
            <a:off x="11074400" y="1981200"/>
            <a:ext cx="279400" cy="381000"/>
          </a:xfrm>
          <a:prstGeom prst="rect">
            <a:avLst/>
          </a:prstGeom>
          <a:solidFill>
            <a:srgbClr val="98907F"/>
          </a:solidFill>
          <a:ln>
            <a:noFill/>
          </a:ln>
        </p:spPr>
      </p:sp>
      <p:sp>
        <p:nvSpPr>
          <p:cNvPr id="8" name="band-1-label"/>
          <p:cNvSpPr txBox="1"/>
          <p:nvPr/>
        </p:nvSpPr>
        <p:spPr>
          <a:xfrm>
            <a:off x="1016000" y="19812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F5F1E8"/>
                </a:solidFill>
                <a:latin typeface="Liter"/>
                <a:ea typeface="MiSans"/>
              </a:rPr>
              <a:t>脉络一 · 70 篇</a:t>
            </a:r>
            <a:endParaRPr lang="en-US" sz="1200" noProof="1"/>
          </a:p>
        </p:txBody>
      </p:sp>
      <p:sp>
        <p:nvSpPr>
          <p:cNvPr id="9" name="t1-chip"/>
          <p:cNvSpPr/>
          <p:nvPr/>
        </p:nvSpPr>
        <p:spPr>
          <a:xfrm>
            <a:off x="838200" y="2870200"/>
            <a:ext cx="127000" cy="127000"/>
          </a:xfrm>
          <a:prstGeom prst="rect">
            <a:avLst/>
          </a:prstGeom>
          <a:solidFill>
            <a:srgbClr val="1F1C17"/>
          </a:solidFill>
          <a:ln>
            <a:noFill/>
          </a:ln>
        </p:spPr>
      </p:sp>
      <p:sp>
        <p:nvSpPr>
          <p:cNvPr id="10" name="t1-name"/>
          <p:cNvSpPr txBox="1"/>
          <p:nvPr/>
        </p:nvSpPr>
        <p:spPr>
          <a:xfrm>
            <a:off x="1117600" y="2794000"/>
            <a:ext cx="660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50" noProof="1" b="1">
                <a:solidFill>
                  <a:srgbClr val="1F1C17"/>
                </a:solidFill>
                <a:latin typeface="Liter"/>
                <a:ea typeface="MiSans"/>
              </a:rPr>
              <a:t>脉络一 · AI 时代的 Harness Engineering —— 70 篇</a:t>
            </a:r>
            <a:endParaRPr lang="en-US" sz="1450" noProof="1"/>
          </a:p>
        </p:txBody>
      </p:sp>
      <p:sp>
        <p:nvSpPr>
          <p:cNvPr id="11" name="t1-desc"/>
          <p:cNvSpPr txBox="1"/>
          <p:nvPr/>
        </p:nvSpPr>
        <p:spPr>
          <a:xfrm>
            <a:off x="1117600" y="3098800"/>
            <a:ext cx="660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E675B"/>
                </a:solidFill>
                <a:latin typeface="Liter"/>
                <a:ea typeface="MiSans"/>
              </a:rPr>
              <a:t>OpenAI → Fowler → Anthropic → LangChain → Cursor……从起源考据、逆向实锤到评测方法论，一条主线追到底</a:t>
            </a:r>
            <a:endParaRPr lang="en-US" sz="1200" noProof="1"/>
          </a:p>
        </p:txBody>
      </p:sp>
      <p:sp>
        <p:nvSpPr>
          <p:cNvPr id="12" name="t2-chip"/>
          <p:cNvSpPr/>
          <p:nvPr/>
        </p:nvSpPr>
        <p:spPr>
          <a:xfrm>
            <a:off x="838200" y="3810000"/>
            <a:ext cx="127000" cy="127000"/>
          </a:xfrm>
          <a:prstGeom prst="rect">
            <a:avLst/>
          </a:prstGeom>
          <a:solidFill>
            <a:srgbClr val="C2481D"/>
          </a:solidFill>
          <a:ln>
            <a:noFill/>
          </a:ln>
        </p:spPr>
      </p:sp>
      <p:sp>
        <p:nvSpPr>
          <p:cNvPr id="13" name="t2-name"/>
          <p:cNvSpPr txBox="1"/>
          <p:nvPr/>
        </p:nvSpPr>
        <p:spPr>
          <a:xfrm>
            <a:off x="1117600" y="3733800"/>
            <a:ext cx="660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50" noProof="1" b="1">
                <a:solidFill>
                  <a:srgbClr val="1F1C17"/>
                </a:solidFill>
                <a:latin typeface="Liter"/>
                <a:ea typeface="MiSans"/>
              </a:rPr>
              <a:t>脉络二 · 云原生 Harness.io —— 2 篇</a:t>
            </a:r>
            <a:endParaRPr lang="en-US" sz="1450" noProof="1"/>
          </a:p>
        </p:txBody>
      </p:sp>
      <p:sp>
        <p:nvSpPr>
          <p:cNvPr id="14" name="t2-desc"/>
          <p:cNvSpPr txBox="1"/>
          <p:nvPr/>
        </p:nvSpPr>
        <p:spPr>
          <a:xfrm>
            <a:off x="1117600" y="4038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75B"/>
                </a:solidFill>
                <a:latin typeface="Liter"/>
                <a:ea typeface="MiSans"/>
              </a:rPr>
              <a:t>同名不同义的 CI/CD 平台，作对照参照系</a:t>
            </a:r>
            <a:endParaRPr lang="en-US" sz="1200" noProof="1"/>
          </a:p>
        </p:txBody>
      </p:sp>
      <p:sp>
        <p:nvSpPr>
          <p:cNvPr id="15" name="t3-chip"/>
          <p:cNvSpPr/>
          <p:nvPr/>
        </p:nvSpPr>
        <p:spPr>
          <a:xfrm>
            <a:off x="838200" y="4546600"/>
            <a:ext cx="127000" cy="127000"/>
          </a:xfrm>
          <a:prstGeom prst="rect">
            <a:avLst/>
          </a:prstGeom>
          <a:solidFill>
            <a:srgbClr val="98907F"/>
          </a:solidFill>
          <a:ln>
            <a:noFill/>
          </a:ln>
        </p:spPr>
      </p:sp>
      <p:sp>
        <p:nvSpPr>
          <p:cNvPr id="16" name="t3-name"/>
          <p:cNvSpPr txBox="1"/>
          <p:nvPr/>
        </p:nvSpPr>
        <p:spPr>
          <a:xfrm>
            <a:off x="1117600" y="4470400"/>
            <a:ext cx="660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50" noProof="1" b="1">
                <a:solidFill>
                  <a:srgbClr val="1F1C17"/>
                </a:solidFill>
                <a:latin typeface="Liter"/>
                <a:ea typeface="MiSans"/>
              </a:rPr>
              <a:t>脉络三 · 效率悖论与能力进化 —— 2 篇</a:t>
            </a:r>
            <a:endParaRPr lang="en-US" sz="1450" noProof="1"/>
          </a:p>
        </p:txBody>
      </p:sp>
      <p:sp>
        <p:nvSpPr>
          <p:cNvPr id="17" name="t3-desc"/>
          <p:cNvSpPr txBox="1"/>
          <p:nvPr/>
        </p:nvSpPr>
        <p:spPr>
          <a:xfrm>
            <a:off x="1117600" y="47752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75B"/>
                </a:solidFill>
                <a:latin typeface="Liter"/>
                <a:ea typeface="MiSans"/>
              </a:rPr>
              <a:t>YDD 系统性拆解 + METR 实验的测量方法论危机</a:t>
            </a:r>
            <a:endParaRPr lang="en-US" sz="1200" noProof="1"/>
          </a:p>
        </p:txBody>
      </p:sp>
      <p:sp>
        <p:nvSpPr>
          <p:cNvPr id="18" name="t4-note"/>
          <p:cNvSpPr txBox="1"/>
          <p:nvPr/>
        </p:nvSpPr>
        <p:spPr>
          <a:xfrm>
            <a:off x="1117600" y="52070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98907F"/>
                </a:solidFill>
                <a:latin typeface="Liter"/>
                <a:ea typeface="MiSans"/>
              </a:rPr>
              <a:t>另有延伸阅读 2 篇：Context Engineering 与人机协作</a:t>
            </a:r>
            <a:endParaRPr lang="en-US" sz="1150" noProof="1"/>
          </a:p>
        </p:txBody>
      </p:sp>
      <p:sp>
        <p:nvSpPr>
          <p:cNvPr id="19" name="divider"/>
          <p:cNvSpPr/>
          <p:nvPr/>
        </p:nvSpPr>
        <p:spPr>
          <a:xfrm>
            <a:off x="8077200" y="2794000"/>
            <a:ext cx="12700" cy="2667000"/>
          </a:xfrm>
          <a:prstGeom prst="rect">
            <a:avLst/>
          </a:prstGeom>
          <a:solidFill>
            <a:srgbClr val="DCD5C6"/>
          </a:solidFill>
          <a:ln>
            <a:noFill/>
          </a:ln>
        </p:spPr>
      </p:sp>
      <p:sp>
        <p:nvSpPr>
          <p:cNvPr id="20" name="tr-num"/>
          <p:cNvSpPr txBox="1"/>
          <p:nvPr/>
        </p:nvSpPr>
        <p:spPr>
          <a:xfrm>
            <a:off x="8483600" y="2743200"/>
            <a:ext cx="28702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6400" noProof="1">
                <a:solidFill>
                  <a:srgbClr val="C2481D"/>
                </a:solidFill>
                <a:latin typeface="得意黑"/>
                <a:ea typeface="得意黑"/>
              </a:rPr>
              <a:t>34</a:t>
            </a:r>
            <a:endParaRPr lang="en-US" sz="6400" noProof="1"/>
          </a:p>
        </p:txBody>
      </p:sp>
      <p:sp>
        <p:nvSpPr>
          <p:cNvPr id="21" name="tr-label"/>
          <p:cNvSpPr txBox="1"/>
          <p:nvPr/>
        </p:nvSpPr>
        <p:spPr>
          <a:xfrm>
            <a:off x="8483600" y="3784600"/>
            <a:ext cx="2870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F1C17"/>
                </a:solidFill>
                <a:latin typeface="Liter"/>
                <a:ea typeface="MiSans"/>
              </a:rPr>
              <a:t>篇核心文章中文全译</a:t>
            </a:r>
            <a:endParaRPr lang="en-US" sz="1500" noProof="1"/>
          </a:p>
        </p:txBody>
      </p:sp>
      <p:sp>
        <p:nvSpPr>
          <p:cNvPr id="22" name="tr-extra"/>
          <p:cNvSpPr txBox="1"/>
          <p:nvPr/>
        </p:nvSpPr>
        <p:spPr>
          <a:xfrm>
            <a:off x="8483600" y="4165600"/>
            <a:ext cx="2870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6E675B"/>
                </a:solidFill>
                <a:latin typeface="Liter"/>
                <a:ea typeface="MiSans"/>
              </a:rPr>
              <a:t>+ 1 篇原创综合分析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6E675B"/>
                </a:solidFill>
                <a:latin typeface="Liter"/>
                <a:ea typeface="MiSans"/>
              </a:rPr>
              <a:t>+ 2 篇外部中文收录</a:t>
            </a:r>
            <a:endParaRPr lang="en-US" sz="1200" noProof="1"/>
          </a:p>
        </p:txBody>
      </p:sp>
      <p:sp>
        <p:nvSpPr>
          <p:cNvPr id="23" name="tr-pointer"/>
          <p:cNvSpPr txBox="1"/>
          <p:nvPr/>
        </p:nvSpPr>
        <p:spPr>
          <a:xfrm>
            <a:off x="8483600" y="4876800"/>
            <a:ext cx="2870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98907F"/>
                </a:solidFill>
                <a:latin typeface="Liter"/>
                <a:ea typeface="MiSans"/>
              </a:rPr>
              <a:t>每篇含核心论点、关键数据与跨文章关联，索引见 references/articles.md</a:t>
            </a:r>
            <a:endParaRPr lang="en-US" sz="1150" noProof="1"/>
          </a:p>
        </p:txBody>
      </p:sp>
      <p:sp>
        <p:nvSpPr>
          <p:cNvPr id="24" name="foot"/>
          <p:cNvSpPr txBox="1"/>
          <p:nvPr/>
        </p:nvSpPr>
        <p:spPr>
          <a:xfrm>
            <a:off x="838200" y="6045200"/>
            <a:ext cx="10515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98907F"/>
                </a:solidFill>
                <a:latin typeface="Liter"/>
                <a:ea typeface="MiSans"/>
              </a:rPr>
              <a:t>计数为 2026-08 快照；最新以 references/articles.md 与 README badge 为准。</a:t>
            </a:r>
            <a:endParaRPr lang="en-US" sz="1100" noProof="1"/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262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in-curve"/>
          <p:cNvSpPr/>
          <p:nvPr>
            <p:extLst>
              <p:ext uri="{F5677B7D-0D2A-4D9B-9A5C-6D8D7D0E5A5D}">
                <pptd:line encoding="base64url">eyJ2aWV3Qm94IjpbOTYwLDU0MF0sInBvaW50cyI6IjkyNiw2NCA3NjAsMTUwIDg3MCwzNDAgNjQ4LDQ2OCIsImN1cnZlIjoic21vb3RoIn0</pptd:line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60" h="540">
                <a:moveTo>
                  <a:pt x="926" y="64"/>
                </a:moveTo>
                <a:cubicBezTo>
                  <a:pt x="760" y="150"/>
                  <a:pt x="870" y="340"/>
                  <a:pt x="648" y="468"/>
                </a:cubicBezTo>
              </a:path>
            </a:pathLst>
          </a:custGeom>
          <a:noFill/>
          <a:ln w="38100" cap="rnd">
            <a:solidFill>
              <a:srgbClr val="C2481D"/>
            </a:solidFill>
            <a:round/>
            <a:tailEnd type="stealth"/>
          </a:ln>
        </p:spPr>
      </p:sp>
      <p:sp>
        <p:nvSpPr>
          <p:cNvPr id="3" name="kicker"/>
          <p:cNvSpPr txBox="1"/>
          <p:nvPr/>
        </p:nvSpPr>
        <p:spPr>
          <a:xfrm>
            <a:off x="838200" y="1752600"/>
            <a:ext cx="787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400" kern="0">
                <a:solidFill>
                  <a:srgbClr val="C2481D"/>
                </a:solidFill>
                <a:latin typeface="Liter"/>
                <a:ea typeface="MiSans"/>
              </a:rPr>
              <a:t>HARNESS ENGINEERING · 学习档案</a:t>
            </a:r>
            <a:endParaRPr lang="en-US" sz="1300" noProof="1"/>
          </a:p>
        </p:txBody>
      </p:sp>
      <p:sp>
        <p:nvSpPr>
          <p:cNvPr id="4" name="motto"/>
          <p:cNvSpPr txBox="1"/>
          <p:nvPr/>
        </p:nvSpPr>
        <p:spPr>
          <a:xfrm>
            <a:off x="787400" y="2159000"/>
            <a:ext cx="10160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400" noProof="1">
                <a:solidFill>
                  <a:srgbClr val="F5F1E8"/>
                </a:solidFill>
                <a:latin typeface="得意黑"/>
                <a:ea typeface="得意黑"/>
              </a:rPr>
              <a:t>人类掌舵，</a:t>
            </a:r>
            <a:r>
              <a:rPr lang="en-US" sz="4400" noProof="1">
                <a:solidFill>
                  <a:srgbClr val="C2481D"/>
                </a:solidFill>
                <a:latin typeface="得意黑"/>
                <a:ea typeface="得意黑"/>
              </a:rPr>
              <a:t>智能体执行</a:t>
            </a:r>
            <a:r>
              <a:rPr lang="en-US" sz="4400" noProof="1">
                <a:solidFill>
                  <a:srgbClr val="F5F1E8"/>
                </a:solidFill>
                <a:latin typeface="得意黑"/>
                <a:ea typeface="得意黑"/>
              </a:rPr>
              <a:t>。</a:t>
            </a:r>
            <a:endParaRPr lang="en-US" sz="4400" noProof="1"/>
          </a:p>
        </p:txBody>
      </p:sp>
      <p:sp>
        <p:nvSpPr>
          <p:cNvPr id="5" name="star-note"/>
          <p:cNvSpPr txBox="1"/>
          <p:nvPr/>
        </p:nvSpPr>
        <p:spPr>
          <a:xfrm>
            <a:off x="838200" y="3327400"/>
            <a:ext cx="787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solidFill>
                  <a:srgbClr val="B4AA97"/>
                </a:solidFill>
                <a:latin typeface="Liter"/>
                <a:ea typeface="MiSans"/>
              </a:rPr>
              <a:t>档案在这里——如果它帮你省了时间，点一颗 Star 就是最好的支持。</a:t>
            </a:r>
            <a:endParaRPr lang="en-US" sz="1250" noProof="1"/>
          </a:p>
        </p:txBody>
      </p:sp>
      <p:sp>
        <p:nvSpPr>
          <p:cNvPr id="6" name="repo"/>
          <p:cNvSpPr txBox="1"/>
          <p:nvPr/>
        </p:nvSpPr>
        <p:spPr>
          <a:xfrm>
            <a:off x="838200" y="36576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F5F1E8"/>
                </a:solidFill>
                <a:latin typeface="Liter"/>
                <a:ea typeface="MiSans"/>
              </a:rPr>
              <a:t>github.com/deusyu/harness-engineering</a:t>
            </a:r>
            <a:endParaRPr lang="en-US" sz="2000" noProof="1"/>
          </a:p>
        </p:txBody>
      </p:sp>
      <p:sp>
        <p:nvSpPr>
          <p:cNvPr id="7" name="join-rule"/>
          <p:cNvSpPr/>
          <p:nvPr/>
        </p:nvSpPr>
        <p:spPr>
          <a:xfrm>
            <a:off x="838200" y="4521200"/>
            <a:ext cx="6604000" cy="12700"/>
          </a:xfrm>
          <a:prstGeom prst="rect">
            <a:avLst/>
          </a:prstGeom>
          <a:solidFill>
            <a:srgbClr val="4A443A"/>
          </a:solidFill>
          <a:ln>
            <a:noFill/>
          </a:ln>
        </p:spPr>
      </p:sp>
      <p:sp>
        <p:nvSpPr>
          <p:cNvPr id="8" name="join-head"/>
          <p:cNvSpPr txBox="1"/>
          <p:nvPr/>
        </p:nvSpPr>
        <p:spPr>
          <a:xfrm>
            <a:off x="838200" y="47244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F5F1E8"/>
                </a:solidFill>
                <a:latin typeface="Liter"/>
                <a:ea typeface="MiSans"/>
              </a:rPr>
              <a:t>欢迎参与</a:t>
            </a:r>
            <a:endParaRPr lang="en-US" sz="1300" noProof="1"/>
          </a:p>
        </p:txBody>
      </p:sp>
      <p:sp>
        <p:nvSpPr>
          <p:cNvPr id="9" name="join-items"/>
          <p:cNvSpPr txBox="1"/>
          <p:nvPr/>
        </p:nvSpPr>
        <p:spPr>
          <a:xfrm>
            <a:off x="838200" y="5029200"/>
            <a:ext cx="812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B4AA97"/>
                </a:solidFill>
                <a:latin typeface="Liter"/>
                <a:ea typeface="MiSans"/>
              </a:rPr>
              <a:t>补概念（concepts/）· 分享思考（thinking/）· 贡献实践（practice/）· 推荐资源（references/）</a:t>
            </a:r>
            <a:endParaRPr lang="en-US" sz="1200" noProof="1"/>
          </a:p>
        </p:txBody>
      </p:sp>
      <p:sp>
        <p:nvSpPr>
          <p:cNvPr id="10" name="contacts"/>
          <p:cNvSpPr txBox="1"/>
          <p:nvPr/>
        </p:nvSpPr>
        <p:spPr>
          <a:xfrm>
            <a:off x="838200" y="5384800"/>
            <a:ext cx="812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B4AA97"/>
                </a:solidFill>
                <a:latin typeface="Liter"/>
                <a:ea typeface="MiSans"/>
              </a:rPr>
              <a:t>GitHub @deusyu · X @0xdeusyu · Telegram @DeusThink · rainman.deus@gmail.com</a:t>
            </a:r>
            <a:endParaRPr lang="en-US" sz="1150" noProof="1"/>
          </a:p>
        </p:txBody>
      </p:sp>
      <p:sp>
        <p:nvSpPr>
          <p:cNvPr id="11" name="footer-rule"/>
          <p:cNvSpPr/>
          <p:nvPr/>
        </p:nvSpPr>
        <p:spPr>
          <a:xfrm>
            <a:off x="838200" y="6172200"/>
            <a:ext cx="10515600" cy="12700"/>
          </a:xfrm>
          <a:prstGeom prst="rect">
            <a:avLst/>
          </a:prstGeom>
          <a:solidFill>
            <a:srgbClr val="4A443A"/>
          </a:solidFill>
          <a:ln>
            <a:noFill/>
          </a:ln>
        </p:spPr>
      </p:sp>
      <p:sp>
        <p:nvSpPr>
          <p:cNvPr id="12" name="footer"/>
          <p:cNvSpPr txBox="1"/>
          <p:nvPr/>
        </p:nvSpPr>
        <p:spPr>
          <a:xfrm>
            <a:off x="838200" y="6299200"/>
            <a:ext cx="105156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8A8272"/>
                </a:solidFill>
                <a:latin typeface="Liter"/>
                <a:ea typeface="MiSans"/>
              </a:rPr>
              <a:t>本演示由 open-kimi-ppt skill 生成 · PPTD 源文件与本档案同仓，可继续编辑 · MIT License</a:t>
            </a:r>
            <a:endParaRPr lang="en-US" sz="1050" noProof="1"/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Company>Moonshot</Company>
  <Slides>10</Slides>
</Properties>
</file>

<file path=docProps/core.xml><?xml version="1.0" encoding="utf-8"?>
<cp:coreProperties xmlns:cp="http://schemas.openxmlformats.org/package/2006/metadata/core-properties" xmlns:dc="http://purl.org/dc/elements/1.1/">
  <dc:title>驭缰工程 · Harness Engineering 学习档案</dc:title>
  <dc:subject>驭缰工程 · Harness Engineering 学习档案</dc:subject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{"Label":"驭缰工程 · Harness Engineering 学习档案","ContentProducer":"001191110108MACG2KBH8F10000","ProduceID":"local-export-43c284a94ac2428aa8eccbab7df19a60","ReservedCode1":"","ContentPropagator":"001191110108MACG2KBH8F20000","PropagateID":"","ReservedCode2":""}</vt:lpwstr>
  </property>
</Properties>
</file>