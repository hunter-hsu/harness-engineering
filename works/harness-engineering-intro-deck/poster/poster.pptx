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 autoCompressPictures="0">
  <p:sldMasterIdLst>
    <p:sldMasterId id="2147483648" r:id="rId1"/>
  </p:sldMasterIdLst>
  <p:sldIdLst>
    <p:sldId id="256" r:id="rId3"/>
  </p:sldIdLst>
  <p:notesMasterIdLst>
    <p:notesMasterId r:id="rId7"/>
  </p:notesMasterIdLst>
  <p:sldSz cx="9144000" cy="12192000" type="custom"/>
  <p:notesSz cx="9144000" cy="12192000"/>
  <p:embeddedFontLst>
    <p:embeddedFont>
      <p:font typeface="Liter" charset="-122" pitchFamily="34"/>
      <p:regular r:id="rId4"/>
    </p:embeddedFont>
    <p:embeddedFont>
      <p:font typeface="MiSans" charset="-122" pitchFamily="34"/>
      <p:regular r:id="rId5"/>
    </p:embeddedFont>
    <p:embeddedFont>
      <p:font typeface="得意黑" charset="-122" pitchFamily="34"/>
      <p:regular r:id="rId6"/>
    </p:embeddedFont>
  </p:embeddedFontLst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单页海报：巨字标题 + 缰绳曲线构成主视觉，编号条目自上而下，深色档案脚收底。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711200"/>
            <a:ext cx="660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400" kern="0">
                <a:solidFill>
                  <a:srgbClr val="C2481D"/>
                </a:solidFill>
                <a:latin typeface="Liter"/>
                <a:ea typeface="MiSans"/>
              </a:rPr>
              <a:t>HARNESS ENGINEERING · 学习档案</a:t>
            </a:r>
            <a:endParaRPr lang="en-US" sz="1200" noProof="1"/>
          </a:p>
        </p:txBody>
      </p:sp>
      <p:sp>
        <p:nvSpPr>
          <p:cNvPr id="3" name="rein-curve"/>
          <p:cNvSpPr/>
          <p:nvPr>
            <p:extLst>
              <p:ext uri="{F5677B7D-0D2A-4D9B-9A5C-6D8D7D0E5A5D}">
                <pptd:line encoding="base64url">eyJ2aWV3Qm94IjpbMjY2LDIxMF0sInBvaW50cyI6IjYsMTk2IDk2LDE4NiAxODAsODQgMjYwLDMwIiwiY3VydmUiOiJzbW9vdGgifQ</pptd:line>
              </p:ext>
            </p:extLst>
          </p:nvPr>
        </p:nvSpPr>
        <p:spPr>
          <a:xfrm>
            <a:off x="5080000" y="660400"/>
            <a:ext cx="3378200" cy="2667000"/>
          </a:xfrm>
          <a:custGeom>
            <a:avLst/>
            <a:gdLst/>
            <a:ahLst/>
            <a:cxnLst/>
            <a:rect l="l" t="t" r="r" b="b"/>
            <a:pathLst>
              <a:path w="266" h="210">
                <a:moveTo>
                  <a:pt x="6" y="196"/>
                </a:moveTo>
                <a:cubicBezTo>
                  <a:pt x="96" y="186"/>
                  <a:pt x="180" y="84"/>
                  <a:pt x="260" y="30"/>
                </a:cubicBezTo>
              </a:path>
            </a:pathLst>
          </a:custGeom>
          <a:noFill/>
          <a:ln w="31750" cap="rnd">
            <a:solidFill>
              <a:srgbClr val="C2481D"/>
            </a:solidFill>
            <a:round/>
            <a:tailEnd type="stealth"/>
          </a:ln>
        </p:spPr>
      </p:sp>
      <p:sp>
        <p:nvSpPr>
          <p:cNvPr id="4" name="anchor-dot"/>
          <p:cNvSpPr/>
          <p:nvPr/>
        </p:nvSpPr>
        <p:spPr>
          <a:xfrm>
            <a:off x="5054600" y="3048000"/>
            <a:ext cx="177800" cy="177800"/>
          </a:xfrm>
          <a:prstGeom prst="ellipse">
            <a:avLst/>
          </a:prstGeom>
          <a:solidFill>
            <a:srgbClr val="1F1C17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35000" y="1168400"/>
            <a:ext cx="6096000" cy="147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200" noProof="1">
                <a:solidFill>
                  <a:srgbClr val="1F1C17"/>
                </a:solidFill>
                <a:latin typeface="得意黑"/>
                <a:ea typeface="得意黑"/>
              </a:rPr>
              <a:t>驭缰工程</a:t>
            </a:r>
            <a:endParaRPr lang="en-US" sz="9200" noProof="1"/>
          </a:p>
        </p:txBody>
      </p:sp>
      <p:sp>
        <p:nvSpPr>
          <p:cNvPr id="6" name="motto"/>
          <p:cNvSpPr txBox="1"/>
          <p:nvPr/>
        </p:nvSpPr>
        <p:spPr>
          <a:xfrm>
            <a:off x="685800" y="2768600"/>
            <a:ext cx="558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900" noProof="1">
                <a:solidFill>
                  <a:srgbClr val="1F1C17"/>
                </a:solidFill>
                <a:latin typeface="得意黑"/>
                <a:ea typeface="得意黑"/>
              </a:rPr>
              <a:t>人类掌舵，</a:t>
            </a:r>
            <a:r>
              <a:rPr lang="en-US" sz="1900" noProof="1">
                <a:solidFill>
                  <a:srgbClr val="C2481D"/>
                </a:solidFill>
                <a:latin typeface="得意黑"/>
                <a:ea typeface="得意黑"/>
              </a:rPr>
              <a:t>智能体执行</a:t>
            </a:r>
            <a:r>
              <a:rPr lang="en-US" sz="1900" noProof="1">
                <a:solidFill>
                  <a:srgbClr val="1F1C17"/>
                </a:solidFill>
                <a:latin typeface="得意黑"/>
                <a:ea typeface="得意黑"/>
              </a:rPr>
              <a:t>。</a:t>
            </a:r>
            <a:endParaRPr lang="en-US" sz="1900" noProof="1"/>
          </a:p>
        </p:txBody>
      </p:sp>
      <p:sp>
        <p:nvSpPr>
          <p:cNvPr id="7" name="subtitle"/>
          <p:cNvSpPr txBox="1"/>
          <p:nvPr/>
        </p:nvSpPr>
        <p:spPr>
          <a:xfrm>
            <a:off x="685800" y="3251200"/>
            <a:ext cx="6604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75B"/>
                </a:solidFill>
                <a:latin typeface="Liter"/>
                <a:ea typeface="MiSans"/>
              </a:rPr>
              <a:t>一座从概念理解到独立实践的深度学习档案</a:t>
            </a:r>
            <a:endParaRPr lang="en-US" sz="1200" noProof="1"/>
          </a:p>
        </p:txBody>
      </p:sp>
      <p:sp>
        <p:nvSpPr>
          <p:cNvPr id="8" name="s1-num"/>
          <p:cNvSpPr txBox="1"/>
          <p:nvPr/>
        </p:nvSpPr>
        <p:spPr>
          <a:xfrm>
            <a:off x="685800" y="3835400"/>
            <a:ext cx="431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C2481D"/>
                </a:solidFill>
                <a:latin typeface="得意黑"/>
                <a:ea typeface="得意黑"/>
              </a:rPr>
              <a:t>01</a:t>
            </a:r>
            <a:endParaRPr lang="en-US" sz="1500" noProof="1"/>
          </a:p>
        </p:txBody>
      </p:sp>
      <p:sp>
        <p:nvSpPr>
          <p:cNvPr id="9" name="s1-head"/>
          <p:cNvSpPr txBox="1"/>
          <p:nvPr/>
        </p:nvSpPr>
        <p:spPr>
          <a:xfrm>
            <a:off x="1219200" y="3810000"/>
            <a:ext cx="6553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F1C17"/>
                </a:solidFill>
                <a:latin typeface="得意黑"/>
                <a:ea typeface="得意黑"/>
              </a:rPr>
              <a:t>工程师的产出：从代码，变成约束系统</a:t>
            </a:r>
            <a:endParaRPr lang="en-US" sz="1600" noProof="1"/>
          </a:p>
        </p:txBody>
      </p:sp>
      <p:sp>
        <p:nvSpPr>
          <p:cNvPr id="10" name="s1-f1"/>
          <p:cNvSpPr txBox="1"/>
          <p:nvPr/>
        </p:nvSpPr>
        <p:spPr>
          <a:xfrm>
            <a:off x="1219200" y="43180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>
                <a:solidFill>
                  <a:srgbClr val="1F1C17"/>
                </a:solidFill>
                <a:latin typeface="Liter"/>
                <a:ea typeface="MiSans"/>
              </a:rPr>
              <a:t>人类</a:t>
            </a:r>
            <a:endParaRPr lang="en-US" sz="1250" noProof="1"/>
          </a:p>
        </p:txBody>
      </p:sp>
      <p:sp>
        <p:nvSpPr>
          <p:cNvPr id="11" name="s1-a1"/>
          <p:cNvSpPr/>
          <p:nvPr>
            <p:extLst>
              <p:ext uri="{F5677B7D-0D2A-4D9B-9A5C-6D8D7D0E5A5D}">
                <pptd:line encoding="base64url">eyJ2aWV3Qm94IjpbMjIsMTJdLCJwb2ludHMiOiIwLDYgMjIsNiJ9</pptd:line>
              </p:ext>
            </p:extLst>
          </p:nvPr>
        </p:nvSpPr>
        <p:spPr>
          <a:xfrm>
            <a:off x="1803400" y="4394200"/>
            <a:ext cx="279400" cy="152400"/>
          </a:xfrm>
          <a:custGeom>
            <a:avLst/>
            <a:gdLst/>
            <a:ahLst/>
            <a:cxnLst/>
            <a:rect l="l" t="t" r="r" b="b"/>
            <a:pathLst>
              <a:path w="22" h="12">
                <a:moveTo>
                  <a:pt x="0" y="6"/>
                </a:moveTo>
                <a:lnTo>
                  <a:pt x="22" y="6"/>
                </a:lnTo>
              </a:path>
            </a:pathLst>
          </a:custGeom>
          <a:noFill/>
          <a:ln w="15240" cap="rnd">
            <a:solidFill>
              <a:srgbClr val="1F1C17"/>
            </a:solidFill>
            <a:round/>
            <a:tailEnd type="stealth"/>
          </a:ln>
        </p:spPr>
      </p:sp>
      <p:sp>
        <p:nvSpPr>
          <p:cNvPr id="12" name="s1-box"/>
          <p:cNvSpPr/>
          <p:nvPr/>
        </p:nvSpPr>
        <p:spPr>
          <a:xfrm>
            <a:off x="2159000" y="4241800"/>
            <a:ext cx="1219200" cy="431800"/>
          </a:xfrm>
          <a:prstGeom prst="rect">
            <a:avLst/>
          </a:prstGeom>
          <a:noFill/>
          <a:ln w="22860">
            <a:solidFill>
              <a:srgbClr val="C2481D"/>
            </a:solidFill>
          </a:ln>
        </p:spPr>
      </p:sp>
      <p:sp>
        <p:nvSpPr>
          <p:cNvPr id="13" name="s1-box-t"/>
          <p:cNvSpPr txBox="1"/>
          <p:nvPr/>
        </p:nvSpPr>
        <p:spPr>
          <a:xfrm>
            <a:off x="2159000" y="4241800"/>
            <a:ext cx="1219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C2481D"/>
                </a:solidFill>
                <a:latin typeface="Liter"/>
                <a:ea typeface="MiSans"/>
              </a:rPr>
              <a:t>约束系统</a:t>
            </a:r>
            <a:endParaRPr lang="en-US" sz="1300" noProof="1"/>
          </a:p>
        </p:txBody>
      </p:sp>
      <p:sp>
        <p:nvSpPr>
          <p:cNvPr id="14" name="s1-a2"/>
          <p:cNvSpPr/>
          <p:nvPr>
            <p:extLst>
              <p:ext uri="{F5677B7D-0D2A-4D9B-9A5C-6D8D7D0E5A5D}">
                <pptd:line encoding="base64url">eyJ2aWV3Qm94IjpbMjIsMTJdLCJwb2ludHMiOiIwLDYgMjIsNiJ9</pptd:line>
              </p:ext>
            </p:extLst>
          </p:nvPr>
        </p:nvSpPr>
        <p:spPr>
          <a:xfrm>
            <a:off x="3454400" y="4394200"/>
            <a:ext cx="279400" cy="152400"/>
          </a:xfrm>
          <a:custGeom>
            <a:avLst/>
            <a:gdLst/>
            <a:ahLst/>
            <a:cxnLst/>
            <a:rect l="l" t="t" r="r" b="b"/>
            <a:pathLst>
              <a:path w="22" h="12">
                <a:moveTo>
                  <a:pt x="0" y="6"/>
                </a:moveTo>
                <a:lnTo>
                  <a:pt x="22" y="6"/>
                </a:lnTo>
              </a:path>
            </a:pathLst>
          </a:custGeom>
          <a:noFill/>
          <a:ln w="15240" cap="rnd">
            <a:solidFill>
              <a:srgbClr val="1F1C17"/>
            </a:solidFill>
            <a:round/>
            <a:tailEnd type="stealth"/>
          </a:ln>
        </p:spPr>
      </p:sp>
      <p:sp>
        <p:nvSpPr>
          <p:cNvPr id="15" name="s1-f2"/>
          <p:cNvSpPr txBox="1"/>
          <p:nvPr/>
        </p:nvSpPr>
        <p:spPr>
          <a:xfrm>
            <a:off x="3810000" y="43180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>
                <a:solidFill>
                  <a:srgbClr val="1F1C17"/>
                </a:solidFill>
                <a:latin typeface="Liter"/>
                <a:ea typeface="MiSans"/>
              </a:rPr>
              <a:t>智能体</a:t>
            </a:r>
            <a:endParaRPr lang="en-US" sz="1250" noProof="1"/>
          </a:p>
        </p:txBody>
      </p:sp>
      <p:sp>
        <p:nvSpPr>
          <p:cNvPr id="16" name="s1-a3"/>
          <p:cNvSpPr/>
          <p:nvPr>
            <p:extLst>
              <p:ext uri="{F5677B7D-0D2A-4D9B-9A5C-6D8D7D0E5A5D}">
                <pptd:line encoding="base64url">eyJ2aWV3Qm94IjpbMjIsMTJdLCJwb2ludHMiOiIwLDYgMjIsNiJ9</pptd:line>
              </p:ext>
            </p:extLst>
          </p:nvPr>
        </p:nvSpPr>
        <p:spPr>
          <a:xfrm>
            <a:off x="4572000" y="4394200"/>
            <a:ext cx="279400" cy="152400"/>
          </a:xfrm>
          <a:custGeom>
            <a:avLst/>
            <a:gdLst/>
            <a:ahLst/>
            <a:cxnLst/>
            <a:rect l="l" t="t" r="r" b="b"/>
            <a:pathLst>
              <a:path w="22" h="12">
                <a:moveTo>
                  <a:pt x="0" y="6"/>
                </a:moveTo>
                <a:lnTo>
                  <a:pt x="22" y="6"/>
                </a:lnTo>
              </a:path>
            </a:pathLst>
          </a:custGeom>
          <a:noFill/>
          <a:ln w="15240" cap="rnd">
            <a:solidFill>
              <a:srgbClr val="1F1C17"/>
            </a:solidFill>
            <a:round/>
            <a:tailEnd type="stealth"/>
          </a:ln>
        </p:spPr>
      </p:sp>
      <p:sp>
        <p:nvSpPr>
          <p:cNvPr id="17" name="s1-f3"/>
          <p:cNvSpPr txBox="1"/>
          <p:nvPr/>
        </p:nvSpPr>
        <p:spPr>
          <a:xfrm>
            <a:off x="4927600" y="43180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>
                <a:solidFill>
                  <a:srgbClr val="1F1C17"/>
                </a:solidFill>
                <a:latin typeface="Liter"/>
                <a:ea typeface="MiSans"/>
              </a:rPr>
              <a:t>代码</a:t>
            </a:r>
            <a:endParaRPr lang="en-US" sz="1250" noProof="1"/>
          </a:p>
        </p:txBody>
      </p:sp>
      <p:sp>
        <p:nvSpPr>
          <p:cNvPr id="18" name="s1-a4"/>
          <p:cNvSpPr/>
          <p:nvPr>
            <p:extLst>
              <p:ext uri="{F5677B7D-0D2A-4D9B-9A5C-6D8D7D0E5A5D}">
                <pptd:line encoding="base64url">eyJ2aWV3Qm94IjpbMjIsMTJdLCJwb2ludHMiOiIwLDYgMjIsNiJ9</pptd:line>
              </p:ext>
            </p:extLst>
          </p:nvPr>
        </p:nvSpPr>
        <p:spPr>
          <a:xfrm>
            <a:off x="5511800" y="4394200"/>
            <a:ext cx="279400" cy="152400"/>
          </a:xfrm>
          <a:custGeom>
            <a:avLst/>
            <a:gdLst/>
            <a:ahLst/>
            <a:cxnLst/>
            <a:rect l="l" t="t" r="r" b="b"/>
            <a:pathLst>
              <a:path w="22" h="12">
                <a:moveTo>
                  <a:pt x="0" y="6"/>
                </a:moveTo>
                <a:lnTo>
                  <a:pt x="22" y="6"/>
                </a:lnTo>
              </a:path>
            </a:pathLst>
          </a:custGeom>
          <a:noFill/>
          <a:ln w="15240" cap="rnd">
            <a:solidFill>
              <a:srgbClr val="1F1C17"/>
            </a:solidFill>
            <a:round/>
            <a:tailEnd type="stealth"/>
          </a:ln>
        </p:spPr>
      </p:sp>
      <p:sp>
        <p:nvSpPr>
          <p:cNvPr id="19" name="s1-f4"/>
          <p:cNvSpPr txBox="1"/>
          <p:nvPr/>
        </p:nvSpPr>
        <p:spPr>
          <a:xfrm>
            <a:off x="5867400" y="43180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>
                <a:solidFill>
                  <a:srgbClr val="1F1C17"/>
                </a:solidFill>
                <a:latin typeface="Liter"/>
                <a:ea typeface="MiSans"/>
              </a:rPr>
              <a:t>机器</a:t>
            </a:r>
            <a:endParaRPr lang="en-US" sz="1250" noProof="1"/>
          </a:p>
        </p:txBody>
      </p:sp>
      <p:sp>
        <p:nvSpPr>
          <p:cNvPr id="20" name="s1-cap"/>
          <p:cNvSpPr txBox="1"/>
          <p:nvPr/>
        </p:nvSpPr>
        <p:spPr>
          <a:xfrm>
            <a:off x="1219200" y="4876800"/>
            <a:ext cx="6553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98907F"/>
                </a:solidFill>
                <a:latin typeface="Liter"/>
                <a:ea typeface="MiSans"/>
              </a:rPr>
              <a:t>Harness Engineering · OpenAI 2026-02 提出：设计环境、明确意图、构建反馈回路。</a:t>
            </a:r>
            <a:endParaRPr lang="en-US" sz="1050" noProof="1"/>
          </a:p>
        </p:txBody>
      </p:sp>
      <p:sp>
        <p:nvSpPr>
          <p:cNvPr id="21" name="rule-1"/>
          <p:cNvSpPr/>
          <p:nvPr/>
        </p:nvSpPr>
        <p:spPr>
          <a:xfrm>
            <a:off x="685800" y="5334000"/>
            <a:ext cx="77724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</p:sp>
      <p:sp>
        <p:nvSpPr>
          <p:cNvPr id="22" name="s2-num"/>
          <p:cNvSpPr txBox="1"/>
          <p:nvPr/>
        </p:nvSpPr>
        <p:spPr>
          <a:xfrm>
            <a:off x="685800" y="5562600"/>
            <a:ext cx="431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C2481D"/>
                </a:solidFill>
                <a:latin typeface="得意黑"/>
                <a:ea typeface="得意黑"/>
              </a:rPr>
              <a:t>02</a:t>
            </a:r>
            <a:endParaRPr lang="en-US" sz="1500" noProof="1"/>
          </a:p>
        </p:txBody>
      </p:sp>
      <p:sp>
        <p:nvSpPr>
          <p:cNvPr id="23" name="s2-head"/>
          <p:cNvSpPr txBox="1"/>
          <p:nvPr/>
        </p:nvSpPr>
        <p:spPr>
          <a:xfrm>
            <a:off x="1219200" y="5537200"/>
            <a:ext cx="6553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F1C17"/>
                </a:solidFill>
                <a:latin typeface="得意黑"/>
                <a:ea typeface="得意黑"/>
              </a:rPr>
              <a:t>六大核心概念</a:t>
            </a:r>
            <a:endParaRPr lang="en-US" sz="1600" noProof="1"/>
          </a:p>
        </p:txBody>
      </p:sp>
      <p:sp>
        <p:nvSpPr>
          <p:cNvPr id="24" name="c1-name"/>
          <p:cNvSpPr txBox="1"/>
          <p:nvPr/>
        </p:nvSpPr>
        <p:spPr>
          <a:xfrm>
            <a:off x="1219200" y="5994400"/>
            <a:ext cx="33274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F1C17"/>
                </a:solidFill>
                <a:latin typeface="Liter"/>
                <a:ea typeface="MiSans"/>
              </a:rPr>
              <a:t>仓库即记录系统</a:t>
            </a:r>
            <a:endParaRPr lang="en-US" sz="1350" noProof="1"/>
          </a:p>
        </p:txBody>
      </p:sp>
      <p:sp>
        <p:nvSpPr>
          <p:cNvPr id="25" name="c1-desc"/>
          <p:cNvSpPr txBox="1"/>
          <p:nvPr/>
        </p:nvSpPr>
        <p:spPr>
          <a:xfrm>
            <a:off x="1219200" y="6261100"/>
            <a:ext cx="3327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98907F"/>
                </a:solidFill>
                <a:latin typeface="Liter"/>
                <a:ea typeface="MiSans"/>
              </a:rPr>
              <a:t>不在仓库里的东西，对智能体不存在</a:t>
            </a:r>
            <a:endParaRPr lang="en-US" sz="1050" noProof="1"/>
          </a:p>
        </p:txBody>
      </p:sp>
      <p:sp>
        <p:nvSpPr>
          <p:cNvPr id="26" name="c2-name"/>
          <p:cNvSpPr txBox="1"/>
          <p:nvPr/>
        </p:nvSpPr>
        <p:spPr>
          <a:xfrm>
            <a:off x="4826000" y="5994400"/>
            <a:ext cx="36322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F1C17"/>
                </a:solidFill>
                <a:latin typeface="Liter"/>
                <a:ea typeface="MiSans"/>
              </a:rPr>
              <a:t>智能体可读性</a:t>
            </a:r>
            <a:endParaRPr lang="en-US" sz="1350" noProof="1"/>
          </a:p>
        </p:txBody>
      </p:sp>
      <p:sp>
        <p:nvSpPr>
          <p:cNvPr id="27" name="c2-desc"/>
          <p:cNvSpPr txBox="1"/>
          <p:nvPr/>
        </p:nvSpPr>
        <p:spPr>
          <a:xfrm>
            <a:off x="4826000" y="6261100"/>
            <a:ext cx="3632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98907F"/>
                </a:solidFill>
                <a:latin typeface="Liter"/>
                <a:ea typeface="MiSans"/>
              </a:rPr>
              <a:t>优先为智能体的推理能力优化</a:t>
            </a:r>
            <a:endParaRPr lang="en-US" sz="1050" noProof="1"/>
          </a:p>
        </p:txBody>
      </p:sp>
      <p:sp>
        <p:nvSpPr>
          <p:cNvPr id="28" name="c3-name"/>
          <p:cNvSpPr txBox="1"/>
          <p:nvPr/>
        </p:nvSpPr>
        <p:spPr>
          <a:xfrm>
            <a:off x="1219200" y="6731000"/>
            <a:ext cx="33274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F1C17"/>
                </a:solidFill>
                <a:latin typeface="Liter"/>
                <a:ea typeface="MiSans"/>
              </a:rPr>
              <a:t>地图而非手册</a:t>
            </a:r>
            <a:endParaRPr lang="en-US" sz="1350" noProof="1"/>
          </a:p>
        </p:txBody>
      </p:sp>
      <p:sp>
        <p:nvSpPr>
          <p:cNvPr id="29" name="c3-desc"/>
          <p:cNvSpPr txBox="1"/>
          <p:nvPr/>
        </p:nvSpPr>
        <p:spPr>
          <a:xfrm>
            <a:off x="1219200" y="6997700"/>
            <a:ext cx="3327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98907F"/>
                </a:solidFill>
                <a:latin typeface="Liter"/>
                <a:ea typeface="MiSans"/>
              </a:rPr>
              <a:t>AGENTS.md 是目录页，不是百科全书</a:t>
            </a:r>
            <a:endParaRPr lang="en-US" sz="1050" noProof="1"/>
          </a:p>
        </p:txBody>
      </p:sp>
      <p:sp>
        <p:nvSpPr>
          <p:cNvPr id="30" name="c4-name"/>
          <p:cNvSpPr txBox="1"/>
          <p:nvPr/>
        </p:nvSpPr>
        <p:spPr>
          <a:xfrm>
            <a:off x="4826000" y="6731000"/>
            <a:ext cx="36322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F1C17"/>
                </a:solidFill>
                <a:latin typeface="Liter"/>
                <a:ea typeface="MiSans"/>
              </a:rPr>
              <a:t>吞吐量改变合并理念</a:t>
            </a:r>
            <a:endParaRPr lang="en-US" sz="1350" noProof="1"/>
          </a:p>
        </p:txBody>
      </p:sp>
      <p:sp>
        <p:nvSpPr>
          <p:cNvPr id="31" name="c4-desc"/>
          <p:cNvSpPr txBox="1"/>
          <p:nvPr/>
        </p:nvSpPr>
        <p:spPr>
          <a:xfrm>
            <a:off x="4826000" y="6997700"/>
            <a:ext cx="3632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98907F"/>
                </a:solidFill>
                <a:latin typeface="Liter"/>
                <a:ea typeface="MiSans"/>
              </a:rPr>
              <a:t>纠错成本低，等待成本高</a:t>
            </a:r>
            <a:endParaRPr lang="en-US" sz="1050" noProof="1"/>
          </a:p>
        </p:txBody>
      </p:sp>
      <p:sp>
        <p:nvSpPr>
          <p:cNvPr id="32" name="c5-name"/>
          <p:cNvSpPr txBox="1"/>
          <p:nvPr/>
        </p:nvSpPr>
        <p:spPr>
          <a:xfrm>
            <a:off x="1219200" y="7467600"/>
            <a:ext cx="33274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F1C17"/>
                </a:solidFill>
                <a:latin typeface="Liter"/>
                <a:ea typeface="MiSans"/>
              </a:rPr>
              <a:t>机械化执行</a:t>
            </a:r>
            <a:endParaRPr lang="en-US" sz="1350" noProof="1"/>
          </a:p>
        </p:txBody>
      </p:sp>
      <p:sp>
        <p:nvSpPr>
          <p:cNvPr id="33" name="c5-desc"/>
          <p:cNvSpPr txBox="1"/>
          <p:nvPr/>
        </p:nvSpPr>
        <p:spPr>
          <a:xfrm>
            <a:off x="1219200" y="7734300"/>
            <a:ext cx="3327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98907F"/>
                </a:solidFill>
                <a:latin typeface="Liter"/>
                <a:ea typeface="MiSans"/>
              </a:rPr>
              <a:t>文档会腐烂，lint 规则不会</a:t>
            </a:r>
            <a:endParaRPr lang="en-US" sz="1050" noProof="1"/>
          </a:p>
        </p:txBody>
      </p:sp>
      <p:sp>
        <p:nvSpPr>
          <p:cNvPr id="34" name="c6-name"/>
          <p:cNvSpPr txBox="1"/>
          <p:nvPr/>
        </p:nvSpPr>
        <p:spPr>
          <a:xfrm>
            <a:off x="4826000" y="7467600"/>
            <a:ext cx="36322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F1C17"/>
                </a:solidFill>
                <a:latin typeface="Liter"/>
                <a:ea typeface="MiSans"/>
              </a:rPr>
              <a:t>熵管理 = 垃圾回收</a:t>
            </a:r>
            <a:endParaRPr lang="en-US" sz="1350" noProof="1"/>
          </a:p>
        </p:txBody>
      </p:sp>
      <p:sp>
        <p:nvSpPr>
          <p:cNvPr id="35" name="c6-desc"/>
          <p:cNvSpPr txBox="1"/>
          <p:nvPr/>
        </p:nvSpPr>
        <p:spPr>
          <a:xfrm>
            <a:off x="4826000" y="7734300"/>
            <a:ext cx="3632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98907F"/>
                </a:solidFill>
                <a:latin typeface="Liter"/>
                <a:ea typeface="MiSans"/>
              </a:rPr>
              <a:t>技术债是高息贷款</a:t>
            </a:r>
            <a:endParaRPr lang="en-US" sz="1050" noProof="1"/>
          </a:p>
        </p:txBody>
      </p:sp>
      <p:sp>
        <p:nvSpPr>
          <p:cNvPr id="36" name="rule-2"/>
          <p:cNvSpPr/>
          <p:nvPr/>
        </p:nvSpPr>
        <p:spPr>
          <a:xfrm>
            <a:off x="685800" y="8229600"/>
            <a:ext cx="77724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</p:sp>
      <p:sp>
        <p:nvSpPr>
          <p:cNvPr id="37" name="s3-num"/>
          <p:cNvSpPr txBox="1"/>
          <p:nvPr/>
        </p:nvSpPr>
        <p:spPr>
          <a:xfrm>
            <a:off x="685800" y="8458200"/>
            <a:ext cx="431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C2481D"/>
                </a:solidFill>
                <a:latin typeface="得意黑"/>
                <a:ea typeface="得意黑"/>
              </a:rPr>
              <a:t>03</a:t>
            </a:r>
            <a:endParaRPr lang="en-US" sz="1500" noProof="1"/>
          </a:p>
        </p:txBody>
      </p:sp>
      <p:sp>
        <p:nvSpPr>
          <p:cNvPr id="38" name="s3-head"/>
          <p:cNvSpPr txBox="1"/>
          <p:nvPr/>
        </p:nvSpPr>
        <p:spPr>
          <a:xfrm>
            <a:off x="1219200" y="8432800"/>
            <a:ext cx="6553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F1C17"/>
                </a:solidFill>
                <a:latin typeface="得意黑"/>
                <a:ea typeface="得意黑"/>
              </a:rPr>
              <a:t>OpenAI 的实证刻度</a:t>
            </a:r>
            <a:endParaRPr lang="en-US" sz="1600" noProof="1"/>
          </a:p>
        </p:txBody>
      </p:sp>
      <p:sp>
        <p:nvSpPr>
          <p:cNvPr id="39" name="d1-num"/>
          <p:cNvSpPr txBox="1"/>
          <p:nvPr/>
        </p:nvSpPr>
        <p:spPr>
          <a:xfrm>
            <a:off x="1219200" y="8864600"/>
            <a:ext cx="1651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1F1C17"/>
                </a:solidFill>
                <a:latin typeface="得意黑"/>
                <a:ea typeface="得意黑"/>
              </a:rPr>
              <a:t>3 → 7</a:t>
            </a:r>
            <a:endParaRPr lang="en-US" sz="2500" noProof="1"/>
          </a:p>
        </p:txBody>
      </p:sp>
      <p:sp>
        <p:nvSpPr>
          <p:cNvPr id="40" name="d1-label"/>
          <p:cNvSpPr txBox="1"/>
          <p:nvPr/>
        </p:nvSpPr>
        <p:spPr>
          <a:xfrm>
            <a:off x="1219200" y="9321800"/>
            <a:ext cx="1651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B"/>
                </a:solidFill>
                <a:latin typeface="Liter"/>
                <a:ea typeface="MiSans"/>
              </a:rPr>
              <a:t>团队规模（人）</a:t>
            </a:r>
            <a:endParaRPr lang="en-US" sz="1000" noProof="1"/>
          </a:p>
        </p:txBody>
      </p:sp>
      <p:sp>
        <p:nvSpPr>
          <p:cNvPr id="41" name="d2-num"/>
          <p:cNvSpPr txBox="1"/>
          <p:nvPr/>
        </p:nvSpPr>
        <p:spPr>
          <a:xfrm>
            <a:off x="3073400" y="8864600"/>
            <a:ext cx="1397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1F1C17"/>
                </a:solidFill>
                <a:latin typeface="得意黑"/>
                <a:ea typeface="得意黑"/>
              </a:rPr>
              <a:t>5</a:t>
            </a:r>
            <a:endParaRPr lang="en-US" sz="2500" noProof="1"/>
          </a:p>
        </p:txBody>
      </p:sp>
      <p:sp>
        <p:nvSpPr>
          <p:cNvPr id="42" name="d2-label"/>
          <p:cNvSpPr txBox="1"/>
          <p:nvPr/>
        </p:nvSpPr>
        <p:spPr>
          <a:xfrm>
            <a:off x="3073400" y="9321800"/>
            <a:ext cx="1397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B"/>
                </a:solidFill>
                <a:latin typeface="Liter"/>
                <a:ea typeface="MiSans"/>
              </a:rPr>
              <a:t>个月时间跨度</a:t>
            </a:r>
            <a:endParaRPr lang="en-US" sz="1000" noProof="1"/>
          </a:p>
        </p:txBody>
      </p:sp>
      <p:sp>
        <p:nvSpPr>
          <p:cNvPr id="43" name="d3-num"/>
          <p:cNvSpPr txBox="1"/>
          <p:nvPr/>
        </p:nvSpPr>
        <p:spPr>
          <a:xfrm>
            <a:off x="4673600" y="8864600"/>
            <a:ext cx="1778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C2481D"/>
                </a:solidFill>
                <a:latin typeface="得意黑"/>
                <a:ea typeface="得意黑"/>
              </a:rPr>
              <a:t>~100万</a:t>
            </a:r>
            <a:endParaRPr lang="en-US" sz="2500" noProof="1"/>
          </a:p>
        </p:txBody>
      </p:sp>
      <p:sp>
        <p:nvSpPr>
          <p:cNvPr id="44" name="d3-label"/>
          <p:cNvSpPr txBox="1"/>
          <p:nvPr/>
        </p:nvSpPr>
        <p:spPr>
          <a:xfrm>
            <a:off x="4673600" y="9321800"/>
            <a:ext cx="177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B"/>
                </a:solidFill>
                <a:latin typeface="Liter"/>
                <a:ea typeface="MiSans"/>
              </a:rPr>
              <a:t>行代码</a:t>
            </a:r>
            <a:endParaRPr lang="en-US" sz="1000" noProof="1"/>
          </a:p>
        </p:txBody>
      </p:sp>
      <p:sp>
        <p:nvSpPr>
          <p:cNvPr id="45" name="d4-num"/>
          <p:cNvSpPr txBox="1"/>
          <p:nvPr/>
        </p:nvSpPr>
        <p:spPr>
          <a:xfrm>
            <a:off x="6654800" y="8864600"/>
            <a:ext cx="1803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1F1C17"/>
                </a:solidFill>
                <a:latin typeface="得意黑"/>
                <a:ea typeface="得意黑"/>
              </a:rPr>
              <a:t>~1,500</a:t>
            </a:r>
            <a:endParaRPr lang="en-US" sz="2500" noProof="1"/>
          </a:p>
        </p:txBody>
      </p:sp>
      <p:sp>
        <p:nvSpPr>
          <p:cNvPr id="46" name="d4-label"/>
          <p:cNvSpPr txBox="1"/>
          <p:nvPr/>
        </p:nvSpPr>
        <p:spPr>
          <a:xfrm>
            <a:off x="6654800" y="9321800"/>
            <a:ext cx="1803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B"/>
                </a:solidFill>
                <a:latin typeface="Liter"/>
                <a:ea typeface="MiSans"/>
              </a:rPr>
              <a:t>合并 PR</a:t>
            </a:r>
            <a:endParaRPr lang="en-US" sz="1000" noProof="1"/>
          </a:p>
        </p:txBody>
      </p:sp>
      <p:sp>
        <p:nvSpPr>
          <p:cNvPr id="47" name="s3-cap"/>
          <p:cNvSpPr txBox="1"/>
          <p:nvPr/>
        </p:nvSpPr>
        <p:spPr>
          <a:xfrm>
            <a:off x="1219200" y="9626600"/>
            <a:ext cx="6858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98907F"/>
                </a:solidFill>
                <a:latin typeface="Liter"/>
                <a:ea typeface="MiSans"/>
              </a:rPr>
              <a:t>人均日 PR 3.5 · 单次运行 6+ 小时 · 约为手工 1/10 时间（2026-02 披露）</a:t>
            </a:r>
            <a:endParaRPr lang="en-US" sz="1050" noProof="1"/>
          </a:p>
        </p:txBody>
      </p:sp>
      <p:sp>
        <p:nvSpPr>
          <p:cNvPr id="48" name="rule-3"/>
          <p:cNvSpPr/>
          <p:nvPr/>
        </p:nvSpPr>
        <p:spPr>
          <a:xfrm>
            <a:off x="685800" y="10058400"/>
            <a:ext cx="77724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</p:sp>
      <p:sp>
        <p:nvSpPr>
          <p:cNvPr id="49" name="s4-num"/>
          <p:cNvSpPr txBox="1"/>
          <p:nvPr/>
        </p:nvSpPr>
        <p:spPr>
          <a:xfrm>
            <a:off x="685800" y="10261600"/>
            <a:ext cx="431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C2481D"/>
                </a:solidFill>
                <a:latin typeface="得意黑"/>
                <a:ea typeface="得意黑"/>
              </a:rPr>
              <a:t>04</a:t>
            </a:r>
            <a:endParaRPr lang="en-US" sz="1500" noProof="1"/>
          </a:p>
        </p:txBody>
      </p:sp>
      <p:sp>
        <p:nvSpPr>
          <p:cNvPr id="50" name="s4-head"/>
          <p:cNvSpPr txBox="1"/>
          <p:nvPr/>
        </p:nvSpPr>
        <p:spPr>
          <a:xfrm>
            <a:off x="1219200" y="10236200"/>
            <a:ext cx="6553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F1C17"/>
                </a:solidFill>
                <a:latin typeface="得意黑"/>
                <a:ea typeface="得意黑"/>
              </a:rPr>
              <a:t>五个 Phase 的学习闭环</a:t>
            </a:r>
            <a:endParaRPr lang="en-US" sz="1600" noProof="1"/>
          </a:p>
        </p:txBody>
      </p:sp>
      <p:sp>
        <p:nvSpPr>
          <p:cNvPr id="51" name="s4-chain"/>
          <p:cNvSpPr txBox="1"/>
          <p:nvPr/>
        </p:nvSpPr>
        <p:spPr>
          <a:xfrm>
            <a:off x="1219200" y="10617200"/>
            <a:ext cx="685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1F1C17"/>
                </a:solidFill>
                <a:latin typeface="Liter"/>
                <a:ea typeface="MiSans"/>
              </a:rPr>
              <a:t>概念 → 思考 → 实践 → 反馈 → 作品 </a:t>
            </a:r>
            <a:r>
              <a:rPr lang="en-US" sz="1400" noProof="1">
                <a:solidFill>
                  <a:srgbClr val="C2481D"/>
                </a:solidFill>
                <a:latin typeface="Liter"/>
                <a:ea typeface="MiSans"/>
              </a:rPr>
              <a:t>⟲ 读者反馈回流</a:t>
            </a:r>
            <a:endParaRPr lang="en-US" sz="1400" noProof="1"/>
          </a:p>
        </p:txBody>
      </p:sp>
      <p:sp>
        <p:nvSpPr>
          <p:cNvPr id="52" name="s4-cap"/>
          <p:cNvSpPr txBox="1"/>
          <p:nvPr/>
        </p:nvSpPr>
        <p:spPr>
          <a:xfrm>
            <a:off x="1219200" y="10947400"/>
            <a:ext cx="6858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98907F"/>
                </a:solidFill>
                <a:latin typeface="Liter"/>
                <a:ea typeface="MiSans"/>
              </a:rPr>
              <a:t>8 篇概念 · 11 篇思考 · 1 个 Ralph Demo · 34 篇翻译 + 1 篇原创（2026-08 快照）</a:t>
            </a:r>
            <a:endParaRPr lang="en-US" sz="1050" noProof="1"/>
          </a:p>
        </p:txBody>
      </p:sp>
      <p:sp>
        <p:nvSpPr>
          <p:cNvPr id="53" name="footer-band"/>
          <p:cNvSpPr/>
          <p:nvPr/>
        </p:nvSpPr>
        <p:spPr>
          <a:xfrm>
            <a:off x="0" y="11379200"/>
            <a:ext cx="9144000" cy="812800"/>
          </a:xfrm>
          <a:prstGeom prst="rect">
            <a:avLst/>
          </a:prstGeom>
          <a:solidFill>
            <a:srgbClr val="26221C"/>
          </a:solidFill>
          <a:ln>
            <a:noFill/>
          </a:ln>
        </p:spPr>
      </p:sp>
      <p:sp>
        <p:nvSpPr>
          <p:cNvPr id="54" name="footer-repo"/>
          <p:cNvSpPr txBox="1"/>
          <p:nvPr/>
        </p:nvSpPr>
        <p:spPr>
          <a:xfrm>
            <a:off x="685800" y="116078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F5F1E8"/>
                </a:solidFill>
                <a:latin typeface="Liter"/>
                <a:ea typeface="MiSans"/>
              </a:rPr>
              <a:t>github.com/deusyu/harness-engineering</a:t>
            </a:r>
            <a:endParaRPr lang="en-US" sz="1500" noProof="1"/>
          </a:p>
        </p:txBody>
      </p:sp>
      <p:sp>
        <p:nvSpPr>
          <p:cNvPr id="55" name="footer-right"/>
          <p:cNvSpPr txBox="1"/>
          <p:nvPr/>
        </p:nvSpPr>
        <p:spPr>
          <a:xfrm>
            <a:off x="6604000" y="11633200"/>
            <a:ext cx="1854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B4AA97"/>
                </a:solidFill>
                <a:latin typeface="Liter"/>
                <a:ea typeface="MiSans"/>
              </a:rPr>
              <a:t>MIT · @deusyu</a:t>
            </a:r>
            <a:endParaRPr lang="en-US" sz="1100" noProof="1"/>
          </a:p>
        </p:txBody>
      </p:sp>
      <p:sp>
        <p:nvSpPr>
          <p:cNvPr id="56" name="footer-line2"/>
          <p:cNvSpPr txBox="1"/>
          <p:nvPr/>
        </p:nvSpPr>
        <p:spPr>
          <a:xfrm>
            <a:off x="685800" y="11912600"/>
            <a:ext cx="7112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B4AA97"/>
                </a:solidFill>
                <a:latin typeface="Liter"/>
                <a:ea typeface="MiSans"/>
              </a:rPr>
              <a:t>人类掌舵，智能体执行。—— 欢迎 Issue / PR 参与共建</a:t>
            </a:r>
            <a:endParaRPr lang="en-US" sz="1000" noProof="1"/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Company>Moonshot</Company>
  <Slides>1</Slides>
</Properties>
</file>

<file path=docProps/core.xml><?xml version="1.0" encoding="utf-8"?>
<cp:coreProperties xmlns:cp="http://schemas.openxmlformats.org/package/2006/metadata/core-properties" xmlns:dc="http://purl.org/dc/elements/1.1/">
  <dc:title>驭缰工程 · 学习档案海报</dc:title>
  <dc:subject>驭缰工程 · 学习档案海报</dc:subject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{"Label":"驭缰工程 · 学习档案海报","ContentProducer":"001191110108MACG2KBH8F10000","ProduceID":"local-export-c18a4221db894d388ad20f0668d07cce","ReservedCode1":"","ContentPropagator":"001191110108MACG2KBH8F20000","PropagateID":"","ReservedCode2":""}</vt:lpwstr>
  </property>
</Properties>
</file>